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89" r:id="rId2"/>
    <p:sldId id="290" r:id="rId3"/>
    <p:sldId id="325" r:id="rId4"/>
    <p:sldId id="328" r:id="rId5"/>
    <p:sldId id="291" r:id="rId6"/>
    <p:sldId id="293" r:id="rId7"/>
    <p:sldId id="294" r:id="rId8"/>
    <p:sldId id="295" r:id="rId9"/>
    <p:sldId id="296" r:id="rId10"/>
    <p:sldId id="297" r:id="rId11"/>
    <p:sldId id="298" r:id="rId12"/>
    <p:sldId id="299" r:id="rId13"/>
    <p:sldId id="301" r:id="rId14"/>
    <p:sldId id="302" r:id="rId15"/>
    <p:sldId id="303" r:id="rId16"/>
    <p:sldId id="337" r:id="rId17"/>
    <p:sldId id="304" r:id="rId18"/>
    <p:sldId id="33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B4A74C-F69A-40BF-868C-AE17408811A6}">
          <p14:sldIdLst>
            <p14:sldId id="289"/>
            <p14:sldId id="290"/>
            <p14:sldId id="325"/>
            <p14:sldId id="328"/>
            <p14:sldId id="291"/>
            <p14:sldId id="293"/>
            <p14:sldId id="294"/>
            <p14:sldId id="295"/>
            <p14:sldId id="296"/>
            <p14:sldId id="297"/>
            <p14:sldId id="298"/>
            <p14:sldId id="299"/>
            <p14:sldId id="301"/>
            <p14:sldId id="302"/>
            <p14:sldId id="303"/>
            <p14:sldId id="337"/>
            <p14:sldId id="304"/>
            <p14:sldId id="33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ra De Cozar" initials="TDC" lastIdx="3" clrIdx="0">
    <p:extLst>
      <p:ext uri="{19B8F6BF-5375-455C-9EA6-DF929625EA0E}">
        <p15:presenceInfo xmlns:p15="http://schemas.microsoft.com/office/powerpoint/2012/main" userId="S-1-5-21-1664130791-3153540899-3044996548-716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159"/>
    <a:srgbClr val="112C0B"/>
    <a:srgbClr val="B92121"/>
    <a:srgbClr val="D92A2B"/>
    <a:srgbClr val="004648"/>
    <a:srgbClr val="005E60"/>
    <a:srgbClr val="00766E"/>
    <a:srgbClr val="009186"/>
    <a:srgbClr val="009BBD"/>
    <a:srgbClr val="5540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20" autoAdjust="0"/>
    <p:restoredTop sz="86395" autoAdjust="0"/>
  </p:normalViewPr>
  <p:slideViewPr>
    <p:cSldViewPr snapToGrid="0" snapToObjects="1">
      <p:cViewPr varScale="1">
        <p:scale>
          <a:sx n="110" d="100"/>
          <a:sy n="110" d="100"/>
        </p:scale>
        <p:origin x="744" y="168"/>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snapToObjects="1" showGuides="1">
      <p:cViewPr varScale="1">
        <p:scale>
          <a:sx n="98" d="100"/>
          <a:sy n="98" d="100"/>
        </p:scale>
        <p:origin x="-364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8732D1-0119-4424-ADB1-6A88624C9257}" type="datetimeFigureOut">
              <a:rPr lang="en-GB" smtClean="0"/>
              <a:t>08/02/2026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0F026BA-B8A7-4B5A-A3B0-0B7D31088B83}" type="slidenum">
              <a:rPr lang="en-GB" smtClean="0"/>
              <a:t>‹#›</a:t>
            </a:fld>
            <a:endParaRPr lang="en-GB"/>
          </a:p>
        </p:txBody>
      </p:sp>
    </p:spTree>
    <p:extLst>
      <p:ext uri="{BB962C8B-B14F-4D97-AF65-F5344CB8AC3E}">
        <p14:creationId xmlns:p14="http://schemas.microsoft.com/office/powerpoint/2010/main" val="25941972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54FE6-3F31-4904-9137-AFF662B7D702}" type="datetimeFigureOut">
              <a:rPr lang="en-GB" smtClean="0"/>
              <a:t>08/02/2026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9E1F4-77C1-461E-ABFF-BFE7DD57AFD2}" type="slidenum">
              <a:rPr lang="en-GB" smtClean="0"/>
              <a:t>‹#›</a:t>
            </a:fld>
            <a:endParaRPr lang="en-GB"/>
          </a:p>
        </p:txBody>
      </p:sp>
    </p:spTree>
    <p:extLst>
      <p:ext uri="{BB962C8B-B14F-4D97-AF65-F5344CB8AC3E}">
        <p14:creationId xmlns:p14="http://schemas.microsoft.com/office/powerpoint/2010/main" val="2151753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B9E1F4-77C1-461E-ABFF-BFE7DD57AFD2}" type="slidenum">
              <a:rPr lang="en-GB" smtClean="0"/>
              <a:t>1</a:t>
            </a:fld>
            <a:endParaRPr lang="en-GB"/>
          </a:p>
        </p:txBody>
      </p:sp>
    </p:spTree>
    <p:extLst>
      <p:ext uri="{BB962C8B-B14F-4D97-AF65-F5344CB8AC3E}">
        <p14:creationId xmlns:p14="http://schemas.microsoft.com/office/powerpoint/2010/main" val="40793836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7" name="Rectangle 6"/>
          <p:cNvSpPr/>
          <p:nvPr userDrawn="1"/>
        </p:nvSpPr>
        <p:spPr>
          <a:xfrm flipH="1">
            <a:off x="0" y="-1"/>
            <a:ext cx="12192000" cy="6858001"/>
          </a:xfrm>
          <a:prstGeom prst="rect">
            <a:avLst/>
          </a:prstGeom>
          <a:blipFill>
            <a:blip r:embed="rId2"/>
            <a:srcRect/>
            <a:stretch>
              <a:fillRect t="-45" b="-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0" y="-2"/>
            <a:ext cx="12192000" cy="6858001"/>
          </a:xfrm>
          <a:prstGeom prst="rect">
            <a:avLst/>
          </a:prstGeom>
          <a:gradFill flip="none" rotWithShape="1">
            <a:gsLst>
              <a:gs pos="50000">
                <a:srgbClr val="0E6394">
                  <a:alpha val="45000"/>
                </a:srgbClr>
              </a:gs>
              <a:gs pos="17000">
                <a:schemeClr val="tx2">
                  <a:alpha val="45000"/>
                </a:schemeClr>
              </a:gs>
              <a:gs pos="100000">
                <a:schemeClr val="accent2">
                  <a:alpha val="4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3416300" y="1742900"/>
            <a:ext cx="5359400" cy="2387600"/>
          </a:xfrm>
        </p:spPr>
        <p:txBody>
          <a:bodyPr anchor="ctr">
            <a:normAutofit/>
          </a:bodyPr>
          <a:lstStyle>
            <a:lvl1pPr algn="ctr">
              <a:lnSpc>
                <a:spcPct val="100000"/>
              </a:lnSpc>
              <a:defRPr sz="5400" b="1">
                <a:solidFill>
                  <a:schemeClr val="bg1"/>
                </a:solidFill>
              </a:defRPr>
            </a:lvl1pPr>
          </a:lstStyle>
          <a:p>
            <a:r>
              <a:rPr lang="en-GB"/>
              <a:t>Click to edit Master title style</a:t>
            </a:r>
            <a:endParaRPr lang="en-GB" dirty="0"/>
          </a:p>
        </p:txBody>
      </p:sp>
      <p:sp>
        <p:nvSpPr>
          <p:cNvPr id="6" name="Text Placeholder 5"/>
          <p:cNvSpPr>
            <a:spLocks noGrp="1"/>
          </p:cNvSpPr>
          <p:nvPr>
            <p:ph type="body" sz="quarter" idx="10" hasCustomPrompt="1"/>
          </p:nvPr>
        </p:nvSpPr>
        <p:spPr>
          <a:xfrm>
            <a:off x="3416398" y="4161275"/>
            <a:ext cx="5359206" cy="1079795"/>
          </a:xfrm>
          <a:prstGeom prst="rect">
            <a:avLst/>
          </a:prstGeom>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2793878" cy="1030941"/>
          </a:xfrm>
          <a:prstGeom prst="rect">
            <a:avLst/>
          </a:prstGeom>
        </p:spPr>
      </p:pic>
      <p:sp>
        <p:nvSpPr>
          <p:cNvPr id="8" name="Rectangle 7"/>
          <p:cNvSpPr/>
          <p:nvPr userDrawn="1"/>
        </p:nvSpPr>
        <p:spPr>
          <a:xfrm>
            <a:off x="3396000" y="729000"/>
            <a:ext cx="5400000" cy="5400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b="1" dirty="0">
              <a:latin typeface="+mj-lt"/>
            </a:endParaRPr>
          </a:p>
        </p:txBody>
      </p:sp>
    </p:spTree>
    <p:extLst>
      <p:ext uri="{BB962C8B-B14F-4D97-AF65-F5344CB8AC3E}">
        <p14:creationId xmlns:p14="http://schemas.microsoft.com/office/powerpoint/2010/main" val="258949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Joint Client Slide">
    <p:spTree>
      <p:nvGrpSpPr>
        <p:cNvPr id="1" name=""/>
        <p:cNvGrpSpPr/>
        <p:nvPr/>
      </p:nvGrpSpPr>
      <p:grpSpPr>
        <a:xfrm>
          <a:off x="0" y="0"/>
          <a:ext cx="0" cy="0"/>
          <a:chOff x="0" y="0"/>
          <a:chExt cx="0" cy="0"/>
        </a:xfrm>
      </p:grpSpPr>
      <p:sp>
        <p:nvSpPr>
          <p:cNvPr id="7" name="Rectangle 6"/>
          <p:cNvSpPr/>
          <p:nvPr userDrawn="1"/>
        </p:nvSpPr>
        <p:spPr>
          <a:xfrm flipH="1">
            <a:off x="0" y="-1"/>
            <a:ext cx="12192000" cy="6858001"/>
          </a:xfrm>
          <a:prstGeom prst="rect">
            <a:avLst/>
          </a:prstGeom>
          <a:blipFill>
            <a:blip r:embed="rId2"/>
            <a:srcRect/>
            <a:stretch>
              <a:fillRect t="-45" b="-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0" y="0"/>
            <a:ext cx="12192000" cy="6858000"/>
          </a:xfrm>
          <a:prstGeom prst="rect">
            <a:avLst/>
          </a:prstGeom>
          <a:gradFill flip="none" rotWithShape="1">
            <a:gsLst>
              <a:gs pos="50000">
                <a:srgbClr val="0E6394">
                  <a:alpha val="45000"/>
                </a:srgbClr>
              </a:gs>
              <a:gs pos="17000">
                <a:schemeClr val="tx2">
                  <a:alpha val="45000"/>
                </a:schemeClr>
              </a:gs>
              <a:gs pos="100000">
                <a:schemeClr val="accent2">
                  <a:alpha val="4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3396000" y="1742900"/>
            <a:ext cx="5400000" cy="2387600"/>
          </a:xfrm>
        </p:spPr>
        <p:txBody>
          <a:bodyPr anchor="ctr">
            <a:normAutofit/>
          </a:bodyPr>
          <a:lstStyle>
            <a:lvl1pPr algn="ctr">
              <a:lnSpc>
                <a:spcPct val="100000"/>
              </a:lnSpc>
              <a:defRPr sz="5400" b="1">
                <a:solidFill>
                  <a:schemeClr val="bg1"/>
                </a:solidFill>
              </a:defRPr>
            </a:lvl1pPr>
          </a:lstStyle>
          <a:p>
            <a:r>
              <a:rPr lang="en-GB"/>
              <a:t>Click to edit Master title style</a:t>
            </a:r>
            <a:endParaRPr lang="en-GB" dirty="0"/>
          </a:p>
        </p:txBody>
      </p:sp>
      <p:sp>
        <p:nvSpPr>
          <p:cNvPr id="6" name="Text Placeholder 5"/>
          <p:cNvSpPr>
            <a:spLocks noGrp="1"/>
          </p:cNvSpPr>
          <p:nvPr>
            <p:ph type="body" sz="quarter" idx="10" hasCustomPrompt="1"/>
          </p:nvPr>
        </p:nvSpPr>
        <p:spPr>
          <a:xfrm>
            <a:off x="3396099" y="4161275"/>
            <a:ext cx="5399803" cy="1079795"/>
          </a:xfrm>
          <a:prstGeom prst="rect">
            <a:avLst/>
          </a:prstGeom>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2793878" cy="1030941"/>
          </a:xfrm>
          <a:prstGeom prst="rect">
            <a:avLst/>
          </a:prstGeom>
        </p:spPr>
      </p:pic>
      <p:sp>
        <p:nvSpPr>
          <p:cNvPr id="10" name="Rectangle 9"/>
          <p:cNvSpPr/>
          <p:nvPr userDrawn="1"/>
        </p:nvSpPr>
        <p:spPr>
          <a:xfrm>
            <a:off x="3396000" y="729000"/>
            <a:ext cx="5400000" cy="5400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b="1" dirty="0">
              <a:latin typeface="+mj-lt"/>
            </a:endParaRPr>
          </a:p>
        </p:txBody>
      </p:sp>
    </p:spTree>
    <p:extLst>
      <p:ext uri="{BB962C8B-B14F-4D97-AF65-F5344CB8AC3E}">
        <p14:creationId xmlns:p14="http://schemas.microsoft.com/office/powerpoint/2010/main" val="125853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gradFill flip="none" rotWithShape="1">
            <a:gsLst>
              <a:gs pos="37000">
                <a:schemeClr val="accent4"/>
              </a:gs>
              <a:gs pos="7000">
                <a:schemeClr val="accent4"/>
              </a:gs>
              <a:gs pos="63000">
                <a:schemeClr val="accent2"/>
              </a:gs>
              <a:gs pos="100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flipH="1">
            <a:off x="0" y="0"/>
            <a:ext cx="12190412" cy="6858000"/>
          </a:xfrm>
          <a:prstGeom prst="rect">
            <a:avLst/>
          </a:prstGeom>
          <a:blipFill dpi="0" rotWithShape="1">
            <a:blip r:embed="rId2">
              <a:alphaModFix amt="40000"/>
            </a:blip>
            <a:srcRect/>
            <a:stretch>
              <a:fillRect l="-20940" t="-1372" b="-228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2" name="Title 1"/>
          <p:cNvSpPr>
            <a:spLocks noGrp="1"/>
          </p:cNvSpPr>
          <p:nvPr>
            <p:ph type="ctrTitle"/>
          </p:nvPr>
        </p:nvSpPr>
        <p:spPr>
          <a:xfrm>
            <a:off x="4471876" y="2409650"/>
            <a:ext cx="7262923" cy="2387600"/>
          </a:xfrm>
        </p:spPr>
        <p:txBody>
          <a:bodyPr anchor="ctr">
            <a:noAutofit/>
          </a:bodyPr>
          <a:lstStyle>
            <a:lvl1pPr algn="r">
              <a:lnSpc>
                <a:spcPct val="100000"/>
              </a:lnSpc>
              <a:defRPr sz="8000" b="1">
                <a:solidFill>
                  <a:schemeClr val="bg1"/>
                </a:solidFill>
              </a:defRPr>
            </a:lvl1pPr>
          </a:lstStyle>
          <a:p>
            <a:r>
              <a:rPr lang="en-GB"/>
              <a:t>Click to edit Master title style</a:t>
            </a:r>
            <a:endParaRPr lang="en-GB" dirty="0"/>
          </a:p>
        </p:txBody>
      </p:sp>
      <p:sp>
        <p:nvSpPr>
          <p:cNvPr id="6" name="Text Placeholder 5"/>
          <p:cNvSpPr>
            <a:spLocks noGrp="1"/>
          </p:cNvSpPr>
          <p:nvPr>
            <p:ph type="body" sz="quarter" idx="10" hasCustomPrompt="1"/>
          </p:nvPr>
        </p:nvSpPr>
        <p:spPr>
          <a:xfrm>
            <a:off x="209550" y="5562600"/>
            <a:ext cx="11525096" cy="947797"/>
          </a:xfrm>
          <a:prstGeom prst="rect">
            <a:avLst/>
          </a:prstGeom>
        </p:spPr>
        <p:txBody>
          <a:bodyPr anchor="ctr">
            <a:normAutofit/>
          </a:bodyPr>
          <a:lstStyle>
            <a:lvl1pPr marL="0" indent="0" algn="r">
              <a:buNone/>
              <a:defRPr sz="3600" b="0" baseline="0">
                <a:solidFill>
                  <a:schemeClr val="bg1"/>
                </a:solidFill>
                <a:latin typeface="+mn-lt"/>
              </a:defRPr>
            </a:lvl1pPr>
          </a:lstStyle>
          <a:p>
            <a:pPr lvl="0"/>
            <a:r>
              <a:rPr lang="en-GB" dirty="0"/>
              <a:t>Insert Text</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2793878" cy="1030941"/>
          </a:xfrm>
          <a:prstGeom prst="rect">
            <a:avLst/>
          </a:prstGeom>
        </p:spPr>
      </p:pic>
    </p:spTree>
    <p:extLst>
      <p:ext uri="{BB962C8B-B14F-4D97-AF65-F5344CB8AC3E}">
        <p14:creationId xmlns:p14="http://schemas.microsoft.com/office/powerpoint/2010/main" val="1715074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Rectangle 6"/>
          <p:cNvSpPr/>
          <p:nvPr userDrawn="1"/>
        </p:nvSpPr>
        <p:spPr>
          <a:xfrm flipH="1" flipV="1">
            <a:off x="2005010" y="-1"/>
            <a:ext cx="10185395"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GB"/>
              <a:t>Click to edit Master title style</a:t>
            </a:r>
            <a:endParaRPr lang="en-GB" dirty="0"/>
          </a:p>
        </p:txBody>
      </p:sp>
    </p:spTree>
    <p:extLst>
      <p:ext uri="{BB962C8B-B14F-4D97-AF65-F5344CB8AC3E}">
        <p14:creationId xmlns:p14="http://schemas.microsoft.com/office/powerpoint/2010/main" val="2398412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753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7" name="Rectangle 6"/>
          <p:cNvSpPr/>
          <p:nvPr userDrawn="1"/>
        </p:nvSpPr>
        <p:spPr>
          <a:xfrm flipH="1" flipV="1">
            <a:off x="2005010" y="-1"/>
            <a:ext cx="10185395"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GB"/>
              <a:t>Click to edit Master title style</a:t>
            </a:r>
            <a:endParaRPr lang="en-GB" dirty="0"/>
          </a:p>
        </p:txBody>
      </p:sp>
      <p:sp>
        <p:nvSpPr>
          <p:cNvPr id="4" name="Content Placeholder 3">
            <a:extLst>
              <a:ext uri="{FF2B5EF4-FFF2-40B4-BE49-F238E27FC236}">
                <a16:creationId xmlns:a16="http://schemas.microsoft.com/office/drawing/2014/main" id="{C49F0D9B-72AB-8F40-9E26-3180418DBFA6}"/>
              </a:ext>
            </a:extLst>
          </p:cNvPr>
          <p:cNvSpPr>
            <a:spLocks noGrp="1"/>
          </p:cNvSpPr>
          <p:nvPr>
            <p:ph sz="quarter" idx="10"/>
          </p:nvPr>
        </p:nvSpPr>
        <p:spPr>
          <a:xfrm>
            <a:off x="858838" y="1159611"/>
            <a:ext cx="10258928" cy="477283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913590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753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 with Annotation">
    <p:spTree>
      <p:nvGrpSpPr>
        <p:cNvPr id="1" name=""/>
        <p:cNvGrpSpPr/>
        <p:nvPr/>
      </p:nvGrpSpPr>
      <p:grpSpPr>
        <a:xfrm>
          <a:off x="0" y="0"/>
          <a:ext cx="0" cy="0"/>
          <a:chOff x="0" y="0"/>
          <a:chExt cx="0" cy="0"/>
        </a:xfrm>
      </p:grpSpPr>
      <p:sp>
        <p:nvSpPr>
          <p:cNvPr id="7" name="Rectangle 6"/>
          <p:cNvSpPr/>
          <p:nvPr userDrawn="1"/>
        </p:nvSpPr>
        <p:spPr>
          <a:xfrm flipH="1" flipV="1">
            <a:off x="2005010" y="-1"/>
            <a:ext cx="10185395"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GB"/>
              <a:t>Click to edit Master title style</a:t>
            </a:r>
            <a:endParaRPr lang="en-GB" dirty="0"/>
          </a:p>
        </p:txBody>
      </p:sp>
      <p:sp>
        <p:nvSpPr>
          <p:cNvPr id="4" name="Content Placeholder 3">
            <a:extLst>
              <a:ext uri="{FF2B5EF4-FFF2-40B4-BE49-F238E27FC236}">
                <a16:creationId xmlns:a16="http://schemas.microsoft.com/office/drawing/2014/main" id="{02C548A2-FB12-2146-8076-97DCD3863562}"/>
              </a:ext>
            </a:extLst>
          </p:cNvPr>
          <p:cNvSpPr>
            <a:spLocks noGrp="1"/>
          </p:cNvSpPr>
          <p:nvPr>
            <p:ph sz="quarter" idx="10"/>
          </p:nvPr>
        </p:nvSpPr>
        <p:spPr>
          <a:xfrm>
            <a:off x="2005010" y="1315456"/>
            <a:ext cx="8897937" cy="5029588"/>
          </a:xfrm>
          <a:prstGeom prst="rect">
            <a:avLst/>
          </a:prstGeom>
        </p:spPr>
        <p:txBody>
          <a:bodyPr/>
          <a:lstStyle>
            <a:lvl1pPr marL="0" indent="0">
              <a:buNone/>
              <a:defRPr/>
            </a:lvl1pPr>
          </a:lstStyle>
          <a:p>
            <a:pPr lvl="0"/>
            <a:r>
              <a:rPr lang="en-GB"/>
              <a:t>Click to edit Master text styles</a:t>
            </a:r>
          </a:p>
        </p:txBody>
      </p:sp>
      <p:sp>
        <p:nvSpPr>
          <p:cNvPr id="6" name="Text Placeholder 5">
            <a:extLst>
              <a:ext uri="{FF2B5EF4-FFF2-40B4-BE49-F238E27FC236}">
                <a16:creationId xmlns:a16="http://schemas.microsoft.com/office/drawing/2014/main" id="{0112DC3E-6500-494A-9C7A-53946AA11C29}"/>
              </a:ext>
            </a:extLst>
          </p:cNvPr>
          <p:cNvSpPr>
            <a:spLocks noGrp="1"/>
          </p:cNvSpPr>
          <p:nvPr>
            <p:ph type="body" sz="quarter" idx="11"/>
          </p:nvPr>
        </p:nvSpPr>
        <p:spPr>
          <a:xfrm>
            <a:off x="6019362" y="6689529"/>
            <a:ext cx="6171043" cy="168471"/>
          </a:xfrm>
          <a:prstGeom prst="rect">
            <a:avLst/>
          </a:prstGeom>
        </p:spPr>
        <p:txBody>
          <a:bodyPr/>
          <a:lstStyle>
            <a:lvl1pPr marL="0" indent="0" algn="r">
              <a:buNone/>
              <a:defRPr sz="800">
                <a:solidFill>
                  <a:schemeClr val="bg1">
                    <a:lumMod val="75000"/>
                  </a:schemeClr>
                </a:solidFill>
              </a:defRPr>
            </a:lvl1pPr>
          </a:lstStyle>
          <a:p>
            <a:pPr lvl="0"/>
            <a:r>
              <a:rPr lang="en-GB"/>
              <a:t>Click to edit Master text styles</a:t>
            </a:r>
          </a:p>
        </p:txBody>
      </p:sp>
    </p:spTree>
    <p:extLst>
      <p:ext uri="{BB962C8B-B14F-4D97-AF65-F5344CB8AC3E}">
        <p14:creationId xmlns:p14="http://schemas.microsoft.com/office/powerpoint/2010/main" val="3814931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753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nimating TItle Bar">
    <p:spTree>
      <p:nvGrpSpPr>
        <p:cNvPr id="1" name=""/>
        <p:cNvGrpSpPr/>
        <p:nvPr/>
      </p:nvGrpSpPr>
      <p:grpSpPr>
        <a:xfrm>
          <a:off x="0" y="0"/>
          <a:ext cx="0" cy="0"/>
          <a:chOff x="0" y="0"/>
          <a:chExt cx="0" cy="0"/>
        </a:xfrm>
      </p:grpSpPr>
      <p:sp>
        <p:nvSpPr>
          <p:cNvPr id="7" name="Rectangle 6"/>
          <p:cNvSpPr/>
          <p:nvPr userDrawn="1"/>
        </p:nvSpPr>
        <p:spPr>
          <a:xfrm flipH="1" flipV="1">
            <a:off x="2005009" y="-2"/>
            <a:ext cx="10185395" cy="896472"/>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GB"/>
              <a:t>Click to edit Master title style</a:t>
            </a:r>
            <a:endParaRPr lang="en-GB" dirty="0"/>
          </a:p>
        </p:txBody>
      </p:sp>
    </p:spTree>
    <p:extLst>
      <p:ext uri="{BB962C8B-B14F-4D97-AF65-F5344CB8AC3E}">
        <p14:creationId xmlns:p14="http://schemas.microsoft.com/office/powerpoint/2010/main" val="3730623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Lst>
  </p:timing>
  <p:extLst>
    <p:ext uri="{DCECCB84-F9BA-43D5-87BE-67443E8EF086}">
      <p15:sldGuideLst xmlns:p15="http://schemas.microsoft.com/office/powerpoint/2012/main">
        <p15:guide id="2" pos="7" userDrawn="1">
          <p15:clr>
            <a:srgbClr val="FBAE40"/>
          </p15:clr>
        </p15:guide>
        <p15:guide id="3" pos="753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 Beacons of Excellence">
    <p:spTree>
      <p:nvGrpSpPr>
        <p:cNvPr id="1" name=""/>
        <p:cNvGrpSpPr/>
        <p:nvPr/>
      </p:nvGrpSpPr>
      <p:grpSpPr>
        <a:xfrm>
          <a:off x="0" y="0"/>
          <a:ext cx="0" cy="0"/>
          <a:chOff x="0" y="0"/>
          <a:chExt cx="0" cy="0"/>
        </a:xfrm>
      </p:grpSpPr>
      <p:sp>
        <p:nvSpPr>
          <p:cNvPr id="7" name="Rectangle 6"/>
          <p:cNvSpPr/>
          <p:nvPr userDrawn="1"/>
        </p:nvSpPr>
        <p:spPr>
          <a:xfrm flipH="1" flipV="1">
            <a:off x="0" y="-1"/>
            <a:ext cx="12192000" cy="6857999"/>
          </a:xfrm>
          <a:prstGeom prst="rect">
            <a:avLst/>
          </a:prstGeom>
          <a:gradFill flip="none" rotWithShape="1">
            <a:gsLst>
              <a:gs pos="50000">
                <a:srgbClr val="0E6394"/>
              </a:gs>
              <a:gs pos="17000">
                <a:srgbClr val="009BBD"/>
              </a:gs>
              <a:gs pos="100000">
                <a:srgbClr val="1B2A6B"/>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04434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flipH="1" flipV="1">
            <a:off x="-3" y="0"/>
            <a:ext cx="12190413"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2002004" y="1"/>
            <a:ext cx="10194758" cy="8964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2002004" y="98987"/>
            <a:ext cx="10189995" cy="698498"/>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E112F-1B58-4F80-8548-230F871317D2}" type="datetimeFigureOut">
              <a:rPr lang="en-GB" smtClean="0"/>
              <a:t>08/02/2026</a:t>
            </a:fld>
            <a:endParaRPr lang="en-GB"/>
          </a:p>
        </p:txBody>
      </p:sp>
      <p:pic>
        <p:nvPicPr>
          <p:cNvPr id="10" name="Picture 9"/>
          <p:cNvPicPr>
            <a:picLocks noChangeAspect="1"/>
          </p:cNvPicPr>
          <p:nvPr userDrawn="1"/>
        </p:nvPicPr>
        <p:blipFill rotWithShape="1">
          <a:blip r:embed="rId10" cstate="print">
            <a:extLst>
              <a:ext uri="{28A0092B-C50C-407E-A947-70E740481C1C}">
                <a14:useLocalDpi xmlns:a14="http://schemas.microsoft.com/office/drawing/2010/main" val="0"/>
              </a:ext>
            </a:extLst>
          </a:blip>
          <a:srcRect/>
          <a:stretch/>
        </p:blipFill>
        <p:spPr>
          <a:xfrm>
            <a:off x="-2" y="0"/>
            <a:ext cx="1696455" cy="625991"/>
          </a:xfrm>
          <a:prstGeom prst="rect">
            <a:avLst/>
          </a:prstGeom>
        </p:spPr>
      </p:pic>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72D6D5-F6C2-4C88-B07F-0F9DC0B2C389}" type="slidenum">
              <a:rPr lang="en-GB" smtClean="0"/>
              <a:t>‹#›</a:t>
            </a:fld>
            <a:endParaRPr lang="en-GB"/>
          </a:p>
        </p:txBody>
      </p:sp>
      <p:cxnSp>
        <p:nvCxnSpPr>
          <p:cNvPr id="8" name="Straight Connector 7"/>
          <p:cNvCxnSpPr>
            <a:cxnSpLocks/>
          </p:cNvCxnSpPr>
          <p:nvPr userDrawn="1"/>
        </p:nvCxnSpPr>
        <p:spPr>
          <a:xfrm>
            <a:off x="1997242" y="0"/>
            <a:ext cx="0" cy="8964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49141"/>
      </p:ext>
    </p:extLst>
  </p:cSld>
  <p:clrMap bg1="lt1" tx1="dk1" bg2="lt2" tx2="dk2" accent1="accent1" accent2="accent2" accent3="accent3" accent4="accent4" accent5="accent5" accent6="accent6" hlink="hlink" folHlink="folHlink"/>
  <p:sldLayoutIdLst>
    <p:sldLayoutId id="2147483657" r:id="rId1"/>
    <p:sldLayoutId id="2147483661" r:id="rId2"/>
    <p:sldLayoutId id="2147483662" r:id="rId3"/>
    <p:sldLayoutId id="2147483658" r:id="rId4"/>
    <p:sldLayoutId id="2147483663" r:id="rId5"/>
    <p:sldLayoutId id="2147483664" r:id="rId6"/>
    <p:sldLayoutId id="2147483650" r:id="rId7"/>
    <p:sldLayoutId id="2147483651"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hyperlink" Target="https://www.nottingham.ac.uk/studyingeffectively/studying/integrity/index.aspx" TargetMode="Externa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4600" dirty="0"/>
              <a:t>Designing Intelligent Agents: Coursework Introduction</a:t>
            </a:r>
          </a:p>
        </p:txBody>
      </p:sp>
      <p:sp>
        <p:nvSpPr>
          <p:cNvPr id="3" name="Text Placeholder 2"/>
          <p:cNvSpPr>
            <a:spLocks noGrp="1"/>
          </p:cNvSpPr>
          <p:nvPr>
            <p:ph type="body" sz="quarter" idx="10"/>
          </p:nvPr>
        </p:nvSpPr>
        <p:spPr>
          <a:xfrm>
            <a:off x="3416397" y="4948354"/>
            <a:ext cx="5359206" cy="1079795"/>
          </a:xfrm>
        </p:spPr>
        <p:txBody>
          <a:bodyPr/>
          <a:lstStyle/>
          <a:p>
            <a:r>
              <a:rPr lang="en-GB" dirty="0"/>
              <a:t>Colin Johnson</a:t>
            </a:r>
          </a:p>
        </p:txBody>
      </p:sp>
    </p:spTree>
    <p:extLst>
      <p:ext uri="{BB962C8B-B14F-4D97-AF65-F5344CB8AC3E}">
        <p14:creationId xmlns:p14="http://schemas.microsoft.com/office/powerpoint/2010/main" val="285465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D0C8F4-CD10-68CF-D8EC-86EE522DB41F}"/>
              </a:ext>
            </a:extLst>
          </p:cNvPr>
          <p:cNvSpPr>
            <a:spLocks noGrp="1"/>
          </p:cNvSpPr>
          <p:nvPr>
            <p:ph type="title"/>
          </p:nvPr>
        </p:nvSpPr>
        <p:spPr/>
        <p:txBody>
          <a:bodyPr/>
          <a:lstStyle/>
          <a:p>
            <a:r>
              <a:rPr lang="en-US" dirty="0"/>
              <a:t>Coursework Overview</a:t>
            </a:r>
          </a:p>
        </p:txBody>
      </p:sp>
      <p:sp>
        <p:nvSpPr>
          <p:cNvPr id="5" name="Content Placeholder 4">
            <a:extLst>
              <a:ext uri="{FF2B5EF4-FFF2-40B4-BE49-F238E27FC236}">
                <a16:creationId xmlns:a16="http://schemas.microsoft.com/office/drawing/2014/main" id="{F8723473-8D26-211E-D43B-6FE9CC569849}"/>
              </a:ext>
            </a:extLst>
          </p:cNvPr>
          <p:cNvSpPr>
            <a:spLocks noGrp="1"/>
          </p:cNvSpPr>
          <p:nvPr>
            <p:ph sz="quarter" idx="10"/>
          </p:nvPr>
        </p:nvSpPr>
        <p:spPr/>
        <p:txBody>
          <a:bodyPr>
            <a:normAutofit lnSpcReduction="10000"/>
          </a:bodyPr>
          <a:lstStyle/>
          <a:p>
            <a:r>
              <a:rPr lang="en-US" dirty="0"/>
              <a:t>The module coursework is a project on a topic of your choice within the module, which must include the following components:</a:t>
            </a:r>
          </a:p>
          <a:p>
            <a:pPr lvl="1"/>
            <a:r>
              <a:rPr lang="en-GB" dirty="0"/>
              <a:t>One one more </a:t>
            </a:r>
            <a:r>
              <a:rPr lang="en-GB" i="1" dirty="0"/>
              <a:t>autonomous intelligent agents</a:t>
            </a:r>
          </a:p>
          <a:p>
            <a:pPr lvl="1"/>
            <a:r>
              <a:rPr lang="en-GB" dirty="0"/>
              <a:t>…acting in some kind of </a:t>
            </a:r>
            <a:r>
              <a:rPr lang="en-GB" i="1" dirty="0"/>
              <a:t>environment</a:t>
            </a:r>
          </a:p>
          <a:p>
            <a:pPr lvl="1"/>
            <a:r>
              <a:rPr lang="en-GB" i="1" dirty="0"/>
              <a:t>…</a:t>
            </a:r>
            <a:r>
              <a:rPr lang="en-GB" dirty="0"/>
              <a:t>about which you ask a </a:t>
            </a:r>
            <a:r>
              <a:rPr lang="en-GB" i="1" dirty="0"/>
              <a:t>scientific or technical question</a:t>
            </a:r>
            <a:r>
              <a:rPr lang="en-GB" dirty="0"/>
              <a:t> (or, set of related questions)</a:t>
            </a:r>
          </a:p>
          <a:p>
            <a:pPr lvl="1"/>
            <a:r>
              <a:rPr lang="en-GB" dirty="0"/>
              <a:t>…and which you evaluate using </a:t>
            </a:r>
            <a:r>
              <a:rPr lang="en-GB" i="1" dirty="0"/>
              <a:t>a set of structured, rigorous experiments</a:t>
            </a:r>
          </a:p>
          <a:p>
            <a:r>
              <a:rPr lang="en-US" dirty="0"/>
              <a:t>This is then presented in a report/video/podcast</a:t>
            </a:r>
          </a:p>
          <a:p>
            <a:r>
              <a:rPr lang="en-US" dirty="0"/>
              <a:t>In addition, students on the COMP4105 module need to do a 10-minute live presentation</a:t>
            </a:r>
          </a:p>
          <a:p>
            <a:pPr lvl="1"/>
            <a:endParaRPr lang="en-US" dirty="0"/>
          </a:p>
          <a:p>
            <a:pPr lvl="1"/>
            <a:endParaRPr lang="en-US" dirty="0"/>
          </a:p>
        </p:txBody>
      </p:sp>
    </p:spTree>
    <p:extLst>
      <p:ext uri="{BB962C8B-B14F-4D97-AF65-F5344CB8AC3E}">
        <p14:creationId xmlns:p14="http://schemas.microsoft.com/office/powerpoint/2010/main" val="2754040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1812-BE9A-7244-9F86-F29E5D467E01}"/>
              </a:ext>
            </a:extLst>
          </p:cNvPr>
          <p:cNvSpPr>
            <a:spLocks noGrp="1"/>
          </p:cNvSpPr>
          <p:nvPr>
            <p:ph type="title"/>
          </p:nvPr>
        </p:nvSpPr>
        <p:spPr/>
        <p:txBody>
          <a:bodyPr/>
          <a:lstStyle/>
          <a:p>
            <a:r>
              <a:rPr lang="en-GB" dirty="0"/>
              <a:t>Autonomous Intelligent Agent</a:t>
            </a:r>
          </a:p>
        </p:txBody>
      </p:sp>
      <p:sp>
        <p:nvSpPr>
          <p:cNvPr id="3" name="Content Placeholder 2">
            <a:extLst>
              <a:ext uri="{FF2B5EF4-FFF2-40B4-BE49-F238E27FC236}">
                <a16:creationId xmlns:a16="http://schemas.microsoft.com/office/drawing/2014/main" id="{356BF8F3-32C2-A04C-B4C8-BACB939C5EB1}"/>
              </a:ext>
            </a:extLst>
          </p:cNvPr>
          <p:cNvSpPr>
            <a:spLocks noGrp="1"/>
          </p:cNvSpPr>
          <p:nvPr>
            <p:ph sz="quarter" idx="10"/>
          </p:nvPr>
        </p:nvSpPr>
        <p:spPr>
          <a:xfrm>
            <a:off x="858838" y="1159611"/>
            <a:ext cx="5237162" cy="5407444"/>
          </a:xfrm>
        </p:spPr>
        <p:txBody>
          <a:bodyPr>
            <a:normAutofit fontScale="92500" lnSpcReduction="10000"/>
          </a:bodyPr>
          <a:lstStyle/>
          <a:p>
            <a:r>
              <a:rPr lang="en-GB" dirty="0"/>
              <a:t>An autonomous intelligent agent is a computer system that takes in information, uses some kind of AI to process it, and then selects some kind of action that changes the environment</a:t>
            </a:r>
          </a:p>
          <a:p>
            <a:r>
              <a:rPr lang="en-GB" dirty="0"/>
              <a:t>Often, there is:</a:t>
            </a:r>
          </a:p>
          <a:p>
            <a:pPr lvl="1"/>
            <a:r>
              <a:rPr lang="en-GB" dirty="0"/>
              <a:t>a loop by which this change to the environment prompts the next set of inputs</a:t>
            </a:r>
          </a:p>
          <a:p>
            <a:pPr lvl="1"/>
            <a:r>
              <a:rPr lang="en-GB" dirty="0"/>
              <a:t>multiple interacting agents giving rise to emergent behaviour</a:t>
            </a:r>
          </a:p>
          <a:p>
            <a:r>
              <a:rPr lang="en-GB" dirty="0"/>
              <a:t>So, not just something that learns into something static like a set of labels</a:t>
            </a:r>
          </a:p>
        </p:txBody>
      </p:sp>
      <p:sp>
        <p:nvSpPr>
          <p:cNvPr id="4" name="Rounded Rectangle 3">
            <a:extLst>
              <a:ext uri="{FF2B5EF4-FFF2-40B4-BE49-F238E27FC236}">
                <a16:creationId xmlns:a16="http://schemas.microsoft.com/office/drawing/2014/main" id="{79292FCA-12B1-F849-9364-C47EDED3C717}"/>
              </a:ext>
            </a:extLst>
          </p:cNvPr>
          <p:cNvSpPr/>
          <p:nvPr/>
        </p:nvSpPr>
        <p:spPr>
          <a:xfrm>
            <a:off x="7097712" y="2858945"/>
            <a:ext cx="4097438" cy="2083443"/>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400" b="1" dirty="0">
              <a:latin typeface="+mj-lt"/>
            </a:endParaRPr>
          </a:p>
        </p:txBody>
      </p:sp>
      <p:cxnSp>
        <p:nvCxnSpPr>
          <p:cNvPr id="5" name="Straight Arrow Connector 4">
            <a:extLst>
              <a:ext uri="{FF2B5EF4-FFF2-40B4-BE49-F238E27FC236}">
                <a16:creationId xmlns:a16="http://schemas.microsoft.com/office/drawing/2014/main" id="{981265A2-70F4-334E-BFCC-84B4DE366F12}"/>
              </a:ext>
            </a:extLst>
          </p:cNvPr>
          <p:cNvCxnSpPr>
            <a:cxnSpLocks/>
          </p:cNvCxnSpPr>
          <p:nvPr/>
        </p:nvCxnSpPr>
        <p:spPr>
          <a:xfrm>
            <a:off x="9084940" y="2097749"/>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1FCA081-EED2-6146-A257-CDE34226EEF4}"/>
              </a:ext>
            </a:extLst>
          </p:cNvPr>
          <p:cNvCxnSpPr>
            <a:cxnSpLocks/>
          </p:cNvCxnSpPr>
          <p:nvPr/>
        </p:nvCxnSpPr>
        <p:spPr>
          <a:xfrm>
            <a:off x="7960990" y="2097749"/>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DFCC3A5-F9FA-0642-9BCF-8A762EE8BAEF}"/>
              </a:ext>
            </a:extLst>
          </p:cNvPr>
          <p:cNvCxnSpPr>
            <a:cxnSpLocks/>
          </p:cNvCxnSpPr>
          <p:nvPr/>
        </p:nvCxnSpPr>
        <p:spPr>
          <a:xfrm>
            <a:off x="10208890" y="2097749"/>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9A44539-C61C-0741-A990-CF8BAB1C2E07}"/>
              </a:ext>
            </a:extLst>
          </p:cNvPr>
          <p:cNvCxnSpPr>
            <a:cxnSpLocks/>
          </p:cNvCxnSpPr>
          <p:nvPr/>
        </p:nvCxnSpPr>
        <p:spPr>
          <a:xfrm>
            <a:off x="9146431" y="4942388"/>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4E31116-42EC-714C-B3AC-1F346FDDF7B1}"/>
              </a:ext>
            </a:extLst>
          </p:cNvPr>
          <p:cNvCxnSpPr>
            <a:cxnSpLocks/>
          </p:cNvCxnSpPr>
          <p:nvPr/>
        </p:nvCxnSpPr>
        <p:spPr>
          <a:xfrm>
            <a:off x="8022481" y="4942388"/>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2F38B9-DBE7-AA48-B5EE-FB518D2222C8}"/>
              </a:ext>
            </a:extLst>
          </p:cNvPr>
          <p:cNvCxnSpPr>
            <a:cxnSpLocks/>
          </p:cNvCxnSpPr>
          <p:nvPr/>
        </p:nvCxnSpPr>
        <p:spPr>
          <a:xfrm>
            <a:off x="10270381" y="4942388"/>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0CD8D04A-FACA-7140-AA59-06673CF08895}"/>
              </a:ext>
            </a:extLst>
          </p:cNvPr>
          <p:cNvPicPr>
            <a:picLocks noChangeAspect="1"/>
          </p:cNvPicPr>
          <p:nvPr/>
        </p:nvPicPr>
        <p:blipFill>
          <a:blip r:embed="rId2"/>
          <a:stretch>
            <a:fillRect/>
          </a:stretch>
        </p:blipFill>
        <p:spPr>
          <a:xfrm>
            <a:off x="7731030" y="2979663"/>
            <a:ext cx="2830801" cy="1875406"/>
          </a:xfrm>
          <a:prstGeom prst="rect">
            <a:avLst/>
          </a:prstGeom>
        </p:spPr>
      </p:pic>
    </p:spTree>
    <p:extLst>
      <p:ext uri="{BB962C8B-B14F-4D97-AF65-F5344CB8AC3E}">
        <p14:creationId xmlns:p14="http://schemas.microsoft.com/office/powerpoint/2010/main" val="420862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1812-BE9A-7244-9F86-F29E5D467E01}"/>
              </a:ext>
            </a:extLst>
          </p:cNvPr>
          <p:cNvSpPr>
            <a:spLocks noGrp="1"/>
          </p:cNvSpPr>
          <p:nvPr>
            <p:ph type="title"/>
          </p:nvPr>
        </p:nvSpPr>
        <p:spPr/>
        <p:txBody>
          <a:bodyPr/>
          <a:lstStyle/>
          <a:p>
            <a:r>
              <a:rPr lang="en-GB" dirty="0"/>
              <a:t>Autonomous Intelligent Agent</a:t>
            </a:r>
          </a:p>
        </p:txBody>
      </p:sp>
      <p:sp>
        <p:nvSpPr>
          <p:cNvPr id="3" name="Content Placeholder 2">
            <a:extLst>
              <a:ext uri="{FF2B5EF4-FFF2-40B4-BE49-F238E27FC236}">
                <a16:creationId xmlns:a16="http://schemas.microsoft.com/office/drawing/2014/main" id="{356BF8F3-32C2-A04C-B4C8-BACB939C5EB1}"/>
              </a:ext>
            </a:extLst>
          </p:cNvPr>
          <p:cNvSpPr>
            <a:spLocks noGrp="1"/>
          </p:cNvSpPr>
          <p:nvPr>
            <p:ph sz="quarter" idx="10"/>
          </p:nvPr>
        </p:nvSpPr>
        <p:spPr>
          <a:xfrm>
            <a:off x="858838" y="1159611"/>
            <a:ext cx="5237162" cy="5407444"/>
          </a:xfrm>
        </p:spPr>
        <p:txBody>
          <a:bodyPr>
            <a:normAutofit lnSpcReduction="10000"/>
          </a:bodyPr>
          <a:lstStyle/>
          <a:p>
            <a:r>
              <a:rPr lang="en-GB" dirty="0"/>
              <a:t>Intelligence could be anything from a reactive system or state machine that doesn’t learn anything (but perhaps produces interesting emergent behaviour when placed in an environment with other agents), to a learning system using some AI/ML algorithm</a:t>
            </a:r>
          </a:p>
          <a:p>
            <a:r>
              <a:rPr lang="en-GB" dirty="0"/>
              <a:t>No preference for what kind of intelligent system you use—it is the quality of your understanding and how you analyse it that matters</a:t>
            </a:r>
          </a:p>
        </p:txBody>
      </p:sp>
      <p:sp>
        <p:nvSpPr>
          <p:cNvPr id="4" name="Rounded Rectangle 3">
            <a:extLst>
              <a:ext uri="{FF2B5EF4-FFF2-40B4-BE49-F238E27FC236}">
                <a16:creationId xmlns:a16="http://schemas.microsoft.com/office/drawing/2014/main" id="{79292FCA-12B1-F849-9364-C47EDED3C717}"/>
              </a:ext>
            </a:extLst>
          </p:cNvPr>
          <p:cNvSpPr/>
          <p:nvPr/>
        </p:nvSpPr>
        <p:spPr>
          <a:xfrm>
            <a:off x="7097712" y="2858945"/>
            <a:ext cx="4097438" cy="2083443"/>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400" b="1" dirty="0">
              <a:latin typeface="+mj-lt"/>
            </a:endParaRPr>
          </a:p>
        </p:txBody>
      </p:sp>
      <p:cxnSp>
        <p:nvCxnSpPr>
          <p:cNvPr id="5" name="Straight Arrow Connector 4">
            <a:extLst>
              <a:ext uri="{FF2B5EF4-FFF2-40B4-BE49-F238E27FC236}">
                <a16:creationId xmlns:a16="http://schemas.microsoft.com/office/drawing/2014/main" id="{981265A2-70F4-334E-BFCC-84B4DE366F12}"/>
              </a:ext>
            </a:extLst>
          </p:cNvPr>
          <p:cNvCxnSpPr>
            <a:cxnSpLocks/>
          </p:cNvCxnSpPr>
          <p:nvPr/>
        </p:nvCxnSpPr>
        <p:spPr>
          <a:xfrm>
            <a:off x="9084940" y="2097749"/>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1FCA081-EED2-6146-A257-CDE34226EEF4}"/>
              </a:ext>
            </a:extLst>
          </p:cNvPr>
          <p:cNvCxnSpPr>
            <a:cxnSpLocks/>
          </p:cNvCxnSpPr>
          <p:nvPr/>
        </p:nvCxnSpPr>
        <p:spPr>
          <a:xfrm>
            <a:off x="7960990" y="2097749"/>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DFCC3A5-F9FA-0642-9BCF-8A762EE8BAEF}"/>
              </a:ext>
            </a:extLst>
          </p:cNvPr>
          <p:cNvCxnSpPr>
            <a:cxnSpLocks/>
          </p:cNvCxnSpPr>
          <p:nvPr/>
        </p:nvCxnSpPr>
        <p:spPr>
          <a:xfrm>
            <a:off x="10208890" y="2097749"/>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9A44539-C61C-0741-A990-CF8BAB1C2E07}"/>
              </a:ext>
            </a:extLst>
          </p:cNvPr>
          <p:cNvCxnSpPr>
            <a:cxnSpLocks/>
          </p:cNvCxnSpPr>
          <p:nvPr/>
        </p:nvCxnSpPr>
        <p:spPr>
          <a:xfrm>
            <a:off x="9146431" y="4942388"/>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4E31116-42EC-714C-B3AC-1F346FDDF7B1}"/>
              </a:ext>
            </a:extLst>
          </p:cNvPr>
          <p:cNvCxnSpPr>
            <a:cxnSpLocks/>
          </p:cNvCxnSpPr>
          <p:nvPr/>
        </p:nvCxnSpPr>
        <p:spPr>
          <a:xfrm>
            <a:off x="8022481" y="4942388"/>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2F38B9-DBE7-AA48-B5EE-FB518D2222C8}"/>
              </a:ext>
            </a:extLst>
          </p:cNvPr>
          <p:cNvCxnSpPr>
            <a:cxnSpLocks/>
          </p:cNvCxnSpPr>
          <p:nvPr/>
        </p:nvCxnSpPr>
        <p:spPr>
          <a:xfrm>
            <a:off x="10270381" y="4942388"/>
            <a:ext cx="0" cy="761196"/>
          </a:xfrm>
          <a:prstGeom prst="straightConnector1">
            <a:avLst/>
          </a:prstGeom>
          <a:ln w="82550">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0CD8D04A-FACA-7140-AA59-06673CF08895}"/>
              </a:ext>
            </a:extLst>
          </p:cNvPr>
          <p:cNvPicPr>
            <a:picLocks noChangeAspect="1"/>
          </p:cNvPicPr>
          <p:nvPr/>
        </p:nvPicPr>
        <p:blipFill>
          <a:blip r:embed="rId2"/>
          <a:stretch>
            <a:fillRect/>
          </a:stretch>
        </p:blipFill>
        <p:spPr>
          <a:xfrm>
            <a:off x="7731030" y="2979663"/>
            <a:ext cx="2830801" cy="1875406"/>
          </a:xfrm>
          <a:prstGeom prst="rect">
            <a:avLst/>
          </a:prstGeom>
        </p:spPr>
      </p:pic>
    </p:spTree>
    <p:extLst>
      <p:ext uri="{BB962C8B-B14F-4D97-AF65-F5344CB8AC3E}">
        <p14:creationId xmlns:p14="http://schemas.microsoft.com/office/powerpoint/2010/main" val="114634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583FF-978C-BE6E-8C0F-420F659C13FE}"/>
              </a:ext>
            </a:extLst>
          </p:cNvPr>
          <p:cNvSpPr>
            <a:spLocks noGrp="1"/>
          </p:cNvSpPr>
          <p:nvPr>
            <p:ph type="title"/>
          </p:nvPr>
        </p:nvSpPr>
        <p:spPr/>
        <p:txBody>
          <a:bodyPr/>
          <a:lstStyle/>
          <a:p>
            <a:r>
              <a:rPr lang="en-US" dirty="0" err="1"/>
              <a:t>Specfication</a:t>
            </a:r>
            <a:r>
              <a:rPr lang="en-US" dirty="0"/>
              <a:t>: Environment</a:t>
            </a:r>
          </a:p>
        </p:txBody>
      </p:sp>
      <p:sp>
        <p:nvSpPr>
          <p:cNvPr id="3" name="Content Placeholder 2">
            <a:extLst>
              <a:ext uri="{FF2B5EF4-FFF2-40B4-BE49-F238E27FC236}">
                <a16:creationId xmlns:a16="http://schemas.microsoft.com/office/drawing/2014/main" id="{044E8A01-893E-CE91-23A0-105013AD7F0F}"/>
              </a:ext>
            </a:extLst>
          </p:cNvPr>
          <p:cNvSpPr>
            <a:spLocks noGrp="1"/>
          </p:cNvSpPr>
          <p:nvPr>
            <p:ph sz="quarter" idx="10"/>
          </p:nvPr>
        </p:nvSpPr>
        <p:spPr>
          <a:xfrm>
            <a:off x="858838" y="1159611"/>
            <a:ext cx="10258928" cy="5194890"/>
          </a:xfrm>
        </p:spPr>
        <p:txBody>
          <a:bodyPr/>
          <a:lstStyle/>
          <a:p>
            <a:pPr>
              <a:spcAft>
                <a:spcPts val="600"/>
              </a:spcAft>
            </a:pPr>
            <a:r>
              <a:rPr lang="en-GB" sz="1800" b="1" dirty="0">
                <a:effectLst/>
                <a:latin typeface="Helvetica" pitchFamily="2" charset="0"/>
                <a:ea typeface="Calibri" panose="020F0502020204030204" pitchFamily="34" charset="0"/>
                <a:cs typeface="Times New Roman (Body CS)"/>
              </a:rPr>
              <a:t>An Environment.</a:t>
            </a:r>
            <a:r>
              <a:rPr lang="en-GB" sz="1800" dirty="0">
                <a:effectLst/>
                <a:latin typeface="Helvetica" pitchFamily="2" charset="0"/>
                <a:ea typeface="Calibri" panose="020F0502020204030204" pitchFamily="34" charset="0"/>
                <a:cs typeface="Times New Roman (Body CS)"/>
              </a:rPr>
              <a:t> This is the (virtual) place where the agents will operate. It could be one of:</a:t>
            </a:r>
            <a:endParaRPr lang="en-GB" sz="18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400" dirty="0">
                <a:effectLst/>
                <a:latin typeface="Helvetica" pitchFamily="2" charset="0"/>
                <a:ea typeface="Calibri" panose="020F0502020204030204" pitchFamily="34" charset="0"/>
                <a:cs typeface="Times New Roman (Body CS)"/>
              </a:rPr>
              <a:t>A simulation of a physical environment in which mobile robotic agents move. This could be the simulation used in the classes earlier in the semester (perhaps extended), a robot environment such as </a:t>
            </a:r>
            <a:r>
              <a:rPr lang="en-GB" sz="1400" i="1" dirty="0">
                <a:effectLst/>
                <a:latin typeface="Helvetica" pitchFamily="2" charset="0"/>
                <a:ea typeface="Calibri" panose="020F0502020204030204" pitchFamily="34" charset="0"/>
                <a:cs typeface="Times New Roman (Body CS)"/>
              </a:rPr>
              <a:t>The Player Project</a:t>
            </a:r>
            <a:r>
              <a:rPr lang="en-GB" sz="1400" i="1" dirty="0">
                <a:latin typeface="Helvetica" pitchFamily="2" charset="0"/>
                <a:ea typeface="Calibri" panose="020F0502020204030204" pitchFamily="34" charset="0"/>
                <a:cs typeface="Times New Roman (Body CS)"/>
              </a:rPr>
              <a:t>, </a:t>
            </a:r>
            <a:r>
              <a:rPr lang="en-GB" sz="1400" dirty="0">
                <a:effectLst/>
                <a:latin typeface="Helvetica" pitchFamily="2" charset="0"/>
                <a:ea typeface="Calibri" panose="020F0502020204030204" pitchFamily="34" charset="0"/>
                <a:cs typeface="Times New Roman (Body CS)"/>
              </a:rPr>
              <a:t>or a project in Unity or a similar game environment if you are familiar with one from elsewhere.</a:t>
            </a:r>
            <a:endParaRPr lang="en-GB" sz="14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400" dirty="0">
                <a:effectLst/>
                <a:latin typeface="Helvetica" pitchFamily="2" charset="0"/>
                <a:ea typeface="Calibri" panose="020F0502020204030204" pitchFamily="34" charset="0"/>
                <a:cs typeface="Times New Roman (Body CS)"/>
              </a:rPr>
              <a:t>A language environment, for example where humans are interacting using written or spoken language with one or more intelligent agents, </a:t>
            </a:r>
            <a:endParaRPr lang="en-GB" sz="14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400" dirty="0">
                <a:effectLst/>
                <a:latin typeface="Helvetica" pitchFamily="2" charset="0"/>
                <a:ea typeface="Calibri" panose="020F0502020204030204" pitchFamily="34" charset="0"/>
                <a:cs typeface="Times New Roman (Body CS)"/>
              </a:rPr>
              <a:t>The </a:t>
            </a:r>
            <a:r>
              <a:rPr lang="en-GB" sz="1400" i="1" dirty="0">
                <a:effectLst/>
                <a:latin typeface="Helvetica" pitchFamily="2" charset="0"/>
                <a:ea typeface="Calibri" panose="020F0502020204030204" pitchFamily="34" charset="0"/>
                <a:cs typeface="Times New Roman (Body CS)"/>
              </a:rPr>
              <a:t>Bristol Stock Exchange</a:t>
            </a:r>
            <a:r>
              <a:rPr lang="en-GB" sz="1400" dirty="0">
                <a:effectLst/>
                <a:latin typeface="Helvetica" pitchFamily="2" charset="0"/>
                <a:ea typeface="Calibri" panose="020F0502020204030204" pitchFamily="34" charset="0"/>
                <a:cs typeface="Times New Roman (Body CS)"/>
              </a:rPr>
              <a:t> system or a similar simulation of some aspect of the economy or society</a:t>
            </a:r>
            <a:endParaRPr lang="en-GB" sz="14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400" dirty="0">
                <a:effectLst/>
                <a:latin typeface="Helvetica" pitchFamily="2" charset="0"/>
                <a:ea typeface="Calibri" panose="020F0502020204030204" pitchFamily="34" charset="0"/>
                <a:cs typeface="Times New Roman (Body CS)"/>
              </a:rPr>
              <a:t>A game environment such as </a:t>
            </a:r>
            <a:r>
              <a:rPr lang="en-GB" sz="1400" i="1" dirty="0">
                <a:effectLst/>
                <a:latin typeface="Helvetica" pitchFamily="2" charset="0"/>
                <a:ea typeface="Calibri" panose="020F0502020204030204" pitchFamily="34" charset="0"/>
                <a:cs typeface="Times New Roman (Body CS)"/>
              </a:rPr>
              <a:t>Ms. </a:t>
            </a:r>
            <a:r>
              <a:rPr lang="en-GB" sz="1400" i="1" dirty="0" err="1">
                <a:effectLst/>
                <a:latin typeface="Helvetica" pitchFamily="2" charset="0"/>
                <a:ea typeface="Calibri" panose="020F0502020204030204" pitchFamily="34" charset="0"/>
                <a:cs typeface="Times New Roman (Body CS)"/>
              </a:rPr>
              <a:t>PacMan</a:t>
            </a:r>
            <a:r>
              <a:rPr lang="en-GB" sz="1400" dirty="0">
                <a:effectLst/>
                <a:latin typeface="Helvetica" pitchFamily="2" charset="0"/>
                <a:ea typeface="Calibri" panose="020F0502020204030204" pitchFamily="34" charset="0"/>
                <a:cs typeface="Times New Roman (Body CS)"/>
              </a:rPr>
              <a:t> , the </a:t>
            </a:r>
            <a:r>
              <a:rPr lang="en-GB" sz="1400" i="1" dirty="0">
                <a:effectLst/>
                <a:latin typeface="Helvetica" pitchFamily="2" charset="0"/>
                <a:ea typeface="Calibri" panose="020F0502020204030204" pitchFamily="34" charset="0"/>
                <a:cs typeface="Times New Roman (Body CS)"/>
              </a:rPr>
              <a:t>Open Racing Car Simulator</a:t>
            </a:r>
            <a:r>
              <a:rPr lang="en-GB" sz="1400" i="1" dirty="0">
                <a:latin typeface="Helvetica" pitchFamily="2" charset="0"/>
                <a:ea typeface="Calibri" panose="020F0502020204030204" pitchFamily="34" charset="0"/>
                <a:cs typeface="Times New Roman (Body CS)"/>
              </a:rPr>
              <a:t>, </a:t>
            </a:r>
            <a:r>
              <a:rPr lang="en-GB" sz="1400" dirty="0">
                <a:effectLst/>
                <a:latin typeface="Helvetica" pitchFamily="2" charset="0"/>
                <a:ea typeface="Calibri" panose="020F0502020204030204" pitchFamily="34" charset="0"/>
                <a:cs typeface="Times New Roman (Body CS)"/>
              </a:rPr>
              <a:t>RoboCup or similar</a:t>
            </a:r>
          </a:p>
          <a:p>
            <a:pPr marL="800100" lvl="1" indent="-342900">
              <a:buFont typeface="Symbol" pitchFamily="2" charset="2"/>
              <a:buChar char=""/>
            </a:pPr>
            <a:r>
              <a:rPr lang="en-GB" sz="1400" dirty="0">
                <a:effectLst/>
                <a:latin typeface="Helvetica" pitchFamily="2" charset="0"/>
                <a:ea typeface="Calibri" panose="020F0502020204030204" pitchFamily="34" charset="0"/>
                <a:cs typeface="Times New Roman (Body CS)"/>
              </a:rPr>
              <a:t>One of the more complex task environments from the </a:t>
            </a:r>
            <a:r>
              <a:rPr lang="en-GB" sz="1400" i="1" dirty="0">
                <a:effectLst/>
                <a:latin typeface="Helvetica" pitchFamily="2" charset="0"/>
                <a:ea typeface="Calibri" panose="020F0502020204030204" pitchFamily="34" charset="0"/>
                <a:cs typeface="Times New Roman (Body CS)"/>
              </a:rPr>
              <a:t>OpenAI Gym</a:t>
            </a:r>
            <a:r>
              <a:rPr lang="en-GB" sz="1400" dirty="0">
                <a:effectLst/>
                <a:latin typeface="Helvetica" pitchFamily="2" charset="0"/>
                <a:ea typeface="Calibri" panose="020F0502020204030204" pitchFamily="34" charset="0"/>
                <a:cs typeface="Times New Roman (Body CS)"/>
              </a:rPr>
              <a:t> </a:t>
            </a:r>
          </a:p>
          <a:p>
            <a:pPr marL="342900" indent="-342900">
              <a:buFont typeface="Symbol" pitchFamily="2" charset="2"/>
              <a:buChar char=""/>
            </a:pPr>
            <a:r>
              <a:rPr lang="en-GB" sz="2200" dirty="0">
                <a:effectLst/>
                <a:latin typeface="Helvetica" pitchFamily="2" charset="0"/>
                <a:ea typeface="Calibri" panose="020F0502020204030204" pitchFamily="34" charset="0"/>
                <a:cs typeface="Times New Roman (Body CS)"/>
              </a:rPr>
              <a:t>There is no need to develop the environment yourself—the focus of the project will be on the agents in the environment (robots, trading agents, game-playing agents, autonomous drivers, language agents, etc.) – but it is likely that you will set up the details of the environment to address your specific question. You are allowed to use the code from the classes, but please try to make it clear broadly which parts of the code are taken from the class examples, and which is your own work (we appreciate that this is sometimes complicated to do at a line-by-line level, but you should indicate this in broad terms).</a:t>
            </a:r>
            <a:endParaRPr lang="en-GB" sz="2200" dirty="0">
              <a:effectLst/>
              <a:latin typeface="Garamond" panose="02020404030301010803" pitchFamily="18" charset="0"/>
              <a:ea typeface="Calibri" panose="020F0502020204030204" pitchFamily="34" charset="0"/>
              <a:cs typeface="Times New Roman (Body CS)"/>
            </a:endParaRPr>
          </a:p>
          <a:p>
            <a:endParaRPr lang="en-US" dirty="0"/>
          </a:p>
        </p:txBody>
      </p:sp>
    </p:spTree>
    <p:extLst>
      <p:ext uri="{BB962C8B-B14F-4D97-AF65-F5344CB8AC3E}">
        <p14:creationId xmlns:p14="http://schemas.microsoft.com/office/powerpoint/2010/main" val="133480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5153C-0FA7-5807-2104-03B89DA1E3F6}"/>
              </a:ext>
            </a:extLst>
          </p:cNvPr>
          <p:cNvSpPr>
            <a:spLocks noGrp="1"/>
          </p:cNvSpPr>
          <p:nvPr>
            <p:ph type="title"/>
          </p:nvPr>
        </p:nvSpPr>
        <p:spPr/>
        <p:txBody>
          <a:bodyPr/>
          <a:lstStyle/>
          <a:p>
            <a:r>
              <a:rPr lang="en-US" dirty="0"/>
              <a:t>Specification: Autonomous Agents</a:t>
            </a:r>
          </a:p>
        </p:txBody>
      </p:sp>
      <p:sp>
        <p:nvSpPr>
          <p:cNvPr id="3" name="Content Placeholder 2">
            <a:extLst>
              <a:ext uri="{FF2B5EF4-FFF2-40B4-BE49-F238E27FC236}">
                <a16:creationId xmlns:a16="http://schemas.microsoft.com/office/drawing/2014/main" id="{BF676BDD-1D06-4364-0E1A-60B5B12F4071}"/>
              </a:ext>
            </a:extLst>
          </p:cNvPr>
          <p:cNvSpPr>
            <a:spLocks noGrp="1"/>
          </p:cNvSpPr>
          <p:nvPr>
            <p:ph sz="quarter" idx="10"/>
          </p:nvPr>
        </p:nvSpPr>
        <p:spPr/>
        <p:txBody>
          <a:bodyPr/>
          <a:lstStyle/>
          <a:p>
            <a:pPr>
              <a:spcAft>
                <a:spcPts val="600"/>
              </a:spcAft>
            </a:pPr>
            <a:r>
              <a:rPr lang="en-GB" sz="2400" dirty="0">
                <a:effectLst/>
                <a:latin typeface="Helvetica" pitchFamily="2" charset="0"/>
                <a:ea typeface="Calibri" panose="020F0502020204030204" pitchFamily="34" charset="0"/>
                <a:cs typeface="Times New Roman (Body CS)"/>
              </a:rPr>
              <a:t>You should introduce one or more autonomous intelligent agents into the environment, which use some kind of AI to solve a task.</a:t>
            </a:r>
            <a:endParaRPr lang="en-GB" sz="24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800" dirty="0">
                <a:effectLst/>
                <a:latin typeface="Helvetica" pitchFamily="2" charset="0"/>
                <a:ea typeface="Calibri" panose="020F0502020204030204" pitchFamily="34" charset="0"/>
                <a:cs typeface="Times New Roman (Body CS)"/>
              </a:rPr>
              <a:t>Examples of AI could be an AI planning system such as Goal Oriented Action Planning, a search algorithm such as A* search, a genetic or swarm search, a reinforcement learning algorithm, fuzzy logic, or a hard-coded reactive or state-machine AI.</a:t>
            </a:r>
            <a:endParaRPr lang="en-GB" sz="1800" dirty="0">
              <a:effectLst/>
              <a:latin typeface="Garamond" panose="02020404030301010803" pitchFamily="18" charset="0"/>
              <a:ea typeface="Calibri" panose="020F0502020204030204" pitchFamily="34" charset="0"/>
              <a:cs typeface="Times New Roman (Body CS)"/>
            </a:endParaRPr>
          </a:p>
          <a:p>
            <a:pPr marL="800100" lvl="1" indent="-342900">
              <a:spcAft>
                <a:spcPts val="600"/>
              </a:spcAft>
              <a:buFont typeface="Symbol" pitchFamily="2" charset="2"/>
              <a:buChar char=""/>
            </a:pPr>
            <a:r>
              <a:rPr lang="en-GB" sz="1800" dirty="0">
                <a:effectLst/>
                <a:latin typeface="Helvetica" pitchFamily="2" charset="0"/>
                <a:ea typeface="Calibri" panose="020F0502020204030204" pitchFamily="34" charset="0"/>
                <a:cs typeface="Times New Roman (Body CS)"/>
              </a:rPr>
              <a:t>The task will be one relevant to the environment: e.g. a robot vacuum cleaner clearing up dirt, a poet trying to write verse about the day’s news, a trader trying to optimise its returns, a game player trying to get a high score in a game, etc.</a:t>
            </a:r>
            <a:endParaRPr lang="en-GB" sz="1800" dirty="0">
              <a:effectLst/>
              <a:latin typeface="Garamond" panose="02020404030301010803" pitchFamily="18" charset="0"/>
              <a:ea typeface="Calibri" panose="020F0502020204030204" pitchFamily="34" charset="0"/>
              <a:cs typeface="Times New Roman (Body CS)"/>
            </a:endParaRPr>
          </a:p>
          <a:p>
            <a:pPr>
              <a:spcAft>
                <a:spcPts val="600"/>
              </a:spcAft>
            </a:pPr>
            <a:r>
              <a:rPr lang="en-GB" sz="2400" dirty="0">
                <a:effectLst/>
                <a:latin typeface="Helvetica" pitchFamily="2" charset="0"/>
                <a:ea typeface="Calibri" panose="020F0502020204030204" pitchFamily="34" charset="0"/>
                <a:cs typeface="Times New Roman (Body CS)"/>
              </a:rPr>
              <a:t>Within reason, you can use any language to do this. If you are planning to use anything other than Python, Java, C/C++, MATLAB/Octave, R, JavaScript, and mainstream web technologies such as HTML/CSS/JS, then please mention this in your topic approval.</a:t>
            </a:r>
            <a:endParaRPr lang="en-GB" sz="2400" dirty="0">
              <a:effectLst/>
              <a:latin typeface="Garamond" panose="02020404030301010803" pitchFamily="18" charset="0"/>
              <a:ea typeface="Calibri" panose="020F0502020204030204" pitchFamily="34" charset="0"/>
              <a:cs typeface="Times New Roman (Body CS)"/>
            </a:endParaRPr>
          </a:p>
          <a:p>
            <a:endParaRPr lang="en-US" dirty="0"/>
          </a:p>
        </p:txBody>
      </p:sp>
    </p:spTree>
    <p:extLst>
      <p:ext uri="{BB962C8B-B14F-4D97-AF65-F5344CB8AC3E}">
        <p14:creationId xmlns:p14="http://schemas.microsoft.com/office/powerpoint/2010/main" val="2482652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9F66F-C786-B3F7-F1B1-2F5063894364}"/>
              </a:ext>
            </a:extLst>
          </p:cNvPr>
          <p:cNvSpPr>
            <a:spLocks noGrp="1"/>
          </p:cNvSpPr>
          <p:nvPr>
            <p:ph type="title"/>
          </p:nvPr>
        </p:nvSpPr>
        <p:spPr/>
        <p:txBody>
          <a:bodyPr/>
          <a:lstStyle/>
          <a:p>
            <a:r>
              <a:rPr lang="en-US" dirty="0"/>
              <a:t>Specification: A Question</a:t>
            </a:r>
          </a:p>
        </p:txBody>
      </p:sp>
      <p:sp>
        <p:nvSpPr>
          <p:cNvPr id="3" name="Content Placeholder 2">
            <a:extLst>
              <a:ext uri="{FF2B5EF4-FFF2-40B4-BE49-F238E27FC236}">
                <a16:creationId xmlns:a16="http://schemas.microsoft.com/office/drawing/2014/main" id="{689DE524-30AE-0551-862E-66BBAAC74772}"/>
              </a:ext>
            </a:extLst>
          </p:cNvPr>
          <p:cNvSpPr>
            <a:spLocks noGrp="1"/>
          </p:cNvSpPr>
          <p:nvPr>
            <p:ph sz="quarter" idx="10"/>
          </p:nvPr>
        </p:nvSpPr>
        <p:spPr>
          <a:xfrm>
            <a:off x="858838" y="1159611"/>
            <a:ext cx="10258928" cy="5160166"/>
          </a:xfrm>
        </p:spPr>
        <p:txBody>
          <a:bodyPr/>
          <a:lstStyle/>
          <a:p>
            <a:pPr>
              <a:spcAft>
                <a:spcPts val="600"/>
              </a:spcAft>
            </a:pPr>
            <a:r>
              <a:rPr lang="en-GB" dirty="0">
                <a:effectLst/>
                <a:latin typeface="Helvetica" pitchFamily="2" charset="0"/>
                <a:ea typeface="Calibri" panose="020F0502020204030204" pitchFamily="34" charset="0"/>
                <a:cs typeface="Times New Roman (Body CS)"/>
              </a:rPr>
              <a:t>You should ask a specific question (or a set of related questions) about your system. For example:</a:t>
            </a:r>
            <a:endParaRPr lang="en-GB"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2000" dirty="0">
                <a:effectLst/>
                <a:latin typeface="Helvetica" pitchFamily="2" charset="0"/>
                <a:ea typeface="Calibri" panose="020F0502020204030204" pitchFamily="34" charset="0"/>
                <a:cs typeface="Times New Roman (Body CS)"/>
              </a:rPr>
              <a:t>How do different approaches (a genetic algorithm, an A* search algorithm, a hard-coded heuristic) compare in terms of task performance?</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2000" dirty="0">
                <a:effectLst/>
                <a:latin typeface="Helvetica" pitchFamily="2" charset="0"/>
                <a:ea typeface="Calibri" panose="020F0502020204030204" pitchFamily="34" charset="0"/>
                <a:cs typeface="Times New Roman (Body CS)"/>
              </a:rPr>
              <a:t>How does the performance of the system change as we vary the number of agents in it?</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2000" dirty="0">
                <a:effectLst/>
                <a:latin typeface="Helvetica" pitchFamily="2" charset="0"/>
                <a:ea typeface="Calibri" panose="020F0502020204030204" pitchFamily="34" charset="0"/>
                <a:cs typeface="Times New Roman (Body CS)"/>
              </a:rPr>
              <a:t>If the system is trained on one version of the environment, does that learning transfer over to a new version of the environment</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2000" dirty="0">
                <a:effectLst/>
                <a:latin typeface="Helvetica" pitchFamily="2" charset="0"/>
                <a:ea typeface="Calibri" panose="020F0502020204030204" pitchFamily="34" charset="0"/>
                <a:cs typeface="Times New Roman (Body CS)"/>
              </a:rPr>
              <a:t>How do different kinds of communication/coordination between agents effect the efficiency of those agents on the task?</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2000" dirty="0">
                <a:effectLst/>
                <a:latin typeface="Helvetica" pitchFamily="2" charset="0"/>
                <a:ea typeface="Calibri" panose="020F0502020204030204" pitchFamily="34" charset="0"/>
                <a:cs typeface="Times New Roman (Body CS)"/>
              </a:rPr>
              <a:t>How much improvement does storing some information (e.g. a map of the environment) make compared to carrying out the task in a purely reactive way?</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2000" dirty="0">
                <a:effectLst/>
                <a:latin typeface="Helvetica" pitchFamily="2" charset="0"/>
                <a:ea typeface="Calibri" panose="020F0502020204030204" pitchFamily="34" charset="0"/>
                <a:cs typeface="Times New Roman (Body CS)"/>
              </a:rPr>
              <a:t>How do different kinds of sensing/perception systems affect the capacity of the agent to carry out its task?</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spcAft>
                <a:spcPts val="600"/>
              </a:spcAft>
              <a:buFont typeface="Symbol" pitchFamily="2" charset="2"/>
              <a:buChar char=""/>
            </a:pPr>
            <a:r>
              <a:rPr lang="en-GB" sz="2000" dirty="0">
                <a:effectLst/>
                <a:latin typeface="Helvetica" pitchFamily="2" charset="0"/>
                <a:ea typeface="Calibri" panose="020F0502020204030204" pitchFamily="34" charset="0"/>
                <a:cs typeface="Times New Roman (Body CS)"/>
              </a:rPr>
              <a:t>How sensitive is the agent to error/noise?</a:t>
            </a:r>
            <a:endParaRPr lang="en-GB" sz="2000" dirty="0">
              <a:effectLst/>
              <a:latin typeface="Garamond" panose="02020404030301010803" pitchFamily="18" charset="0"/>
              <a:ea typeface="Calibri" panose="020F0502020204030204" pitchFamily="34" charset="0"/>
              <a:cs typeface="Times New Roman (Body CS)"/>
            </a:endParaRPr>
          </a:p>
          <a:p>
            <a:endParaRPr lang="en-US" dirty="0"/>
          </a:p>
        </p:txBody>
      </p:sp>
    </p:spTree>
    <p:extLst>
      <p:ext uri="{BB962C8B-B14F-4D97-AF65-F5344CB8AC3E}">
        <p14:creationId xmlns:p14="http://schemas.microsoft.com/office/powerpoint/2010/main" val="97565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31E46-FF8B-1706-21F1-DCFDA1A68387}"/>
              </a:ext>
            </a:extLst>
          </p:cNvPr>
          <p:cNvSpPr>
            <a:spLocks noGrp="1"/>
          </p:cNvSpPr>
          <p:nvPr>
            <p:ph type="title"/>
          </p:nvPr>
        </p:nvSpPr>
        <p:spPr/>
        <p:txBody>
          <a:bodyPr/>
          <a:lstStyle/>
          <a:p>
            <a:r>
              <a:rPr lang="en-US" dirty="0"/>
              <a:t>Specification: Experiments</a:t>
            </a:r>
          </a:p>
        </p:txBody>
      </p:sp>
      <p:sp>
        <p:nvSpPr>
          <p:cNvPr id="3" name="Content Placeholder 2">
            <a:extLst>
              <a:ext uri="{FF2B5EF4-FFF2-40B4-BE49-F238E27FC236}">
                <a16:creationId xmlns:a16="http://schemas.microsoft.com/office/drawing/2014/main" id="{7D00613F-A395-9D11-50A0-3D38E9343333}"/>
              </a:ext>
            </a:extLst>
          </p:cNvPr>
          <p:cNvSpPr>
            <a:spLocks noGrp="1"/>
          </p:cNvSpPr>
          <p:nvPr>
            <p:ph sz="quarter" idx="10"/>
          </p:nvPr>
        </p:nvSpPr>
        <p:spPr/>
        <p:txBody>
          <a:bodyPr/>
          <a:lstStyle/>
          <a:p>
            <a:pPr>
              <a:spcAft>
                <a:spcPts val="600"/>
              </a:spcAft>
            </a:pPr>
            <a:r>
              <a:rPr lang="en-GB" sz="2400" dirty="0">
                <a:effectLst/>
                <a:latin typeface="Helvetica" pitchFamily="2" charset="0"/>
                <a:ea typeface="Calibri" panose="020F0502020204030204" pitchFamily="34" charset="0"/>
                <a:cs typeface="Times New Roman (Body CS)"/>
              </a:rPr>
              <a:t>You should answer your question by carrying out a set of experiments. Remember the structure that we talked about in one of the lectures: </a:t>
            </a:r>
            <a:endParaRPr lang="en-GB" sz="24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800" dirty="0">
                <a:effectLst/>
                <a:latin typeface="Helvetica" pitchFamily="2" charset="0"/>
                <a:ea typeface="Calibri" panose="020F0502020204030204" pitchFamily="34" charset="0"/>
                <a:cs typeface="Times New Roman (Body CS)"/>
              </a:rPr>
              <a:t>implement code that carries out a run of the agent’s behaviour and measures performance</a:t>
            </a:r>
            <a:endParaRPr lang="en-GB" sz="18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800" dirty="0">
                <a:effectLst/>
                <a:latin typeface="Helvetica" pitchFamily="2" charset="0"/>
                <a:ea typeface="Calibri" panose="020F0502020204030204" pitchFamily="34" charset="0"/>
                <a:cs typeface="Times New Roman (Body CS)"/>
              </a:rPr>
              <a:t>then, run that code multiple times to get a measure of average performance</a:t>
            </a:r>
            <a:endParaRPr lang="en-GB" sz="1800" dirty="0">
              <a:effectLst/>
              <a:latin typeface="Garamond" panose="02020404030301010803" pitchFamily="18" charset="0"/>
              <a:ea typeface="Calibri" panose="020F0502020204030204" pitchFamily="34" charset="0"/>
              <a:cs typeface="Times New Roman (Body CS)"/>
            </a:endParaRPr>
          </a:p>
          <a:p>
            <a:pPr marL="800100" lvl="1" indent="-342900">
              <a:spcAft>
                <a:spcPts val="600"/>
              </a:spcAft>
              <a:buFont typeface="Symbol" pitchFamily="2" charset="2"/>
              <a:buChar char=""/>
            </a:pPr>
            <a:r>
              <a:rPr lang="en-GB" sz="1800" dirty="0">
                <a:effectLst/>
                <a:latin typeface="Helvetica" pitchFamily="2" charset="0"/>
                <a:ea typeface="Calibri" panose="020F0502020204030204" pitchFamily="34" charset="0"/>
                <a:cs typeface="Times New Roman (Body CS)"/>
              </a:rPr>
              <a:t>then, repeat that process for the different conditions in your question, and use descriptive statistics, charts/visualisation, and/or inferential statistics (e.g. significance tests) to test your question</a:t>
            </a:r>
            <a:endParaRPr lang="en-GB" sz="1800" dirty="0">
              <a:effectLst/>
              <a:latin typeface="Garamond" panose="02020404030301010803" pitchFamily="18" charset="0"/>
              <a:ea typeface="Calibri" panose="020F0502020204030204" pitchFamily="34" charset="0"/>
              <a:cs typeface="Times New Roman (Body CS)"/>
            </a:endParaRPr>
          </a:p>
          <a:p>
            <a:pPr>
              <a:spcAft>
                <a:spcPts val="600"/>
              </a:spcAft>
            </a:pPr>
            <a:r>
              <a:rPr lang="en-GB" sz="2400" dirty="0">
                <a:effectLst/>
                <a:latin typeface="Helvetica" pitchFamily="2" charset="0"/>
                <a:ea typeface="Calibri" panose="020F0502020204030204" pitchFamily="34" charset="0"/>
                <a:cs typeface="Times New Roman (Body CS)"/>
              </a:rPr>
              <a:t>Then, you should discuss the question using these experimental results as your evidence.</a:t>
            </a:r>
            <a:endParaRPr lang="en-GB" sz="2400" dirty="0">
              <a:effectLst/>
              <a:latin typeface="Garamond" panose="02020404030301010803" pitchFamily="18" charset="0"/>
              <a:ea typeface="Calibri" panose="020F0502020204030204" pitchFamily="34" charset="0"/>
              <a:cs typeface="Times New Roman (Body CS)"/>
            </a:endParaRPr>
          </a:p>
          <a:p>
            <a:pPr>
              <a:spcAft>
                <a:spcPts val="600"/>
              </a:spcAft>
            </a:pPr>
            <a:r>
              <a:rPr lang="en-GB" sz="2400" dirty="0">
                <a:effectLst/>
                <a:latin typeface="Helvetica" pitchFamily="2" charset="0"/>
                <a:ea typeface="Calibri" panose="020F0502020204030204" pitchFamily="34" charset="0"/>
                <a:cs typeface="Times New Roman (Body CS)"/>
              </a:rPr>
              <a:t>If this evaluation involves asking people to interact with your code, then please read the notes on research ethics that are in the </a:t>
            </a:r>
            <a:r>
              <a:rPr lang="en-GB" sz="2400" i="1" dirty="0">
                <a:effectLst/>
                <a:latin typeface="Helvetica" pitchFamily="2" charset="0"/>
                <a:ea typeface="Calibri" panose="020F0502020204030204" pitchFamily="34" charset="0"/>
                <a:cs typeface="Times New Roman (Body CS)"/>
              </a:rPr>
              <a:t>Coursework</a:t>
            </a:r>
            <a:r>
              <a:rPr lang="en-GB" sz="2400" dirty="0">
                <a:effectLst/>
                <a:latin typeface="Helvetica" pitchFamily="2" charset="0"/>
                <a:ea typeface="Calibri" panose="020F0502020204030204" pitchFamily="34" charset="0"/>
                <a:cs typeface="Times New Roman (Body CS)"/>
              </a:rPr>
              <a:t> section of the module Moodle page.</a:t>
            </a:r>
            <a:endParaRPr lang="en-GB" sz="2400" dirty="0">
              <a:effectLst/>
              <a:latin typeface="Garamond" panose="02020404030301010803" pitchFamily="18" charset="0"/>
              <a:ea typeface="Calibri" panose="020F0502020204030204" pitchFamily="34" charset="0"/>
              <a:cs typeface="Times New Roman (Body CS)"/>
            </a:endParaRPr>
          </a:p>
          <a:p>
            <a:endParaRPr lang="en-US" dirty="0"/>
          </a:p>
        </p:txBody>
      </p:sp>
    </p:spTree>
    <p:extLst>
      <p:ext uri="{BB962C8B-B14F-4D97-AF65-F5344CB8AC3E}">
        <p14:creationId xmlns:p14="http://schemas.microsoft.com/office/powerpoint/2010/main" val="242794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01469-9708-DC30-0A0E-D81949C038D8}"/>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2CEA627B-2654-5FC0-69B9-5179565C2439}"/>
              </a:ext>
            </a:extLst>
          </p:cNvPr>
          <p:cNvSpPr>
            <a:spLocks noGrp="1"/>
          </p:cNvSpPr>
          <p:nvPr>
            <p:ph sz="quarter" idx="10"/>
          </p:nvPr>
        </p:nvSpPr>
        <p:spPr/>
        <p:txBody>
          <a:bodyPr/>
          <a:lstStyle/>
          <a:p>
            <a:pPr>
              <a:spcAft>
                <a:spcPts val="600"/>
              </a:spcAft>
            </a:pPr>
            <a:r>
              <a:rPr lang="en-GB" sz="2000" dirty="0">
                <a:effectLst/>
                <a:latin typeface="Helvetica" pitchFamily="2" charset="0"/>
                <a:ea typeface="Calibri" panose="020F0502020204030204" pitchFamily="34" charset="0"/>
                <a:cs typeface="Times New Roman (Body CS)"/>
              </a:rPr>
              <a:t>Your project is expected to demonstrate around 90 hours of effort. So, you should not just run a basic reinforcement learning or convolutional neural networks library/tutorial on a simple environment from AI Gym or similar, though you can use these as part of your work. </a:t>
            </a:r>
            <a:endParaRPr lang="en-GB" sz="2000" dirty="0">
              <a:effectLst/>
              <a:latin typeface="Garamond" panose="02020404030301010803" pitchFamily="18" charset="0"/>
              <a:ea typeface="Calibri" panose="020F0502020204030204" pitchFamily="34" charset="0"/>
              <a:cs typeface="Times New Roman (Body CS)"/>
            </a:endParaRPr>
          </a:p>
          <a:p>
            <a:pPr>
              <a:spcAft>
                <a:spcPts val="600"/>
              </a:spcAft>
            </a:pPr>
            <a:r>
              <a:rPr lang="en-GB" sz="2000" dirty="0">
                <a:effectLst/>
                <a:latin typeface="Helvetica" pitchFamily="2" charset="0"/>
                <a:ea typeface="Calibri" panose="020F0502020204030204" pitchFamily="34" charset="0"/>
                <a:cs typeface="Times New Roman (Body CS)"/>
              </a:rPr>
              <a:t>You are not allowed to develop a basic chatbot i.e. a single system that interacts with a human using intent matching, identity management, transaction processing, question answering etc. If you want to do something on language agents, you should do something that goes beyond this (e.g. a creative language system, a system that involves interactions between multiple language agents, or a system that involves a language-based interface to another system).</a:t>
            </a:r>
            <a:endParaRPr lang="en-GB" sz="2000" dirty="0">
              <a:effectLst/>
              <a:latin typeface="Garamond" panose="02020404030301010803" pitchFamily="18" charset="0"/>
              <a:ea typeface="Calibri" panose="020F0502020204030204" pitchFamily="34" charset="0"/>
              <a:cs typeface="Times New Roman (Body CS)"/>
            </a:endParaRPr>
          </a:p>
          <a:p>
            <a:pPr>
              <a:spcAft>
                <a:spcPts val="600"/>
              </a:spcAft>
            </a:pPr>
            <a:r>
              <a:rPr lang="en-GB" sz="2000" dirty="0">
                <a:effectLst/>
                <a:latin typeface="Helvetica" pitchFamily="2" charset="0"/>
                <a:ea typeface="Calibri" panose="020F0502020204030204" pitchFamily="34" charset="0"/>
                <a:cs typeface="Times New Roman (Body CS)"/>
              </a:rPr>
              <a:t>You are at liberty to use any readily available libraries, frameworks, APIs, services, datasets etc. as you want—but your work must demonstrate substantial work in using, combining and building on what you use. You are not permitted to simply re-submit coursework from another module, but you could potentially build on code that you have written previously and build on it in a new way. If your work extends or re-uses coursework from other modules, it must make a substantial and distinctive contribution beyond what was in those courseworks, and you must clearly identify what the new contribution is.</a:t>
            </a:r>
            <a:endParaRPr lang="en-GB" sz="2000" dirty="0">
              <a:effectLst/>
              <a:latin typeface="Garamond" panose="02020404030301010803" pitchFamily="18" charset="0"/>
              <a:ea typeface="Calibri" panose="020F0502020204030204" pitchFamily="34" charset="0"/>
              <a:cs typeface="Times New Roman (Body CS)"/>
            </a:endParaRPr>
          </a:p>
        </p:txBody>
      </p:sp>
    </p:spTree>
    <p:extLst>
      <p:ext uri="{BB962C8B-B14F-4D97-AF65-F5344CB8AC3E}">
        <p14:creationId xmlns:p14="http://schemas.microsoft.com/office/powerpoint/2010/main" val="58051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E928-5932-2879-1353-0C62F4D1D036}"/>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43ED8E99-4F68-75EC-47B3-53D216F952BF}"/>
              </a:ext>
            </a:extLst>
          </p:cNvPr>
          <p:cNvSpPr>
            <a:spLocks noGrp="1"/>
          </p:cNvSpPr>
          <p:nvPr>
            <p:ph sz="quarter" idx="10"/>
          </p:nvPr>
        </p:nvSpPr>
        <p:spPr>
          <a:xfrm>
            <a:off x="858838" y="1159610"/>
            <a:ext cx="10258928" cy="5449533"/>
          </a:xfrm>
        </p:spPr>
        <p:txBody>
          <a:bodyPr/>
          <a:lstStyle/>
          <a:p>
            <a:pPr>
              <a:spcAft>
                <a:spcPts val="600"/>
              </a:spcAft>
            </a:pPr>
            <a:r>
              <a:rPr lang="en-GB" sz="2000" dirty="0">
                <a:effectLst/>
                <a:latin typeface="Helvetica" pitchFamily="2" charset="0"/>
                <a:ea typeface="Calibri" panose="020F0502020204030204" pitchFamily="34" charset="0"/>
                <a:cs typeface="Times New Roman (Body CS)"/>
              </a:rPr>
              <a:t>Here are a few examples of things that you could do. You don’t have to do one of these—indeed, we would prefer you to come up with your own idea—but, these would all be acceptable project ideas if you want to do them:</a:t>
            </a:r>
            <a:endParaRPr lang="en-GB" sz="20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600" dirty="0">
                <a:effectLst/>
                <a:latin typeface="Helvetica" pitchFamily="2" charset="0"/>
                <a:ea typeface="Calibri" panose="020F0502020204030204" pitchFamily="34" charset="0"/>
                <a:cs typeface="Times New Roman (Body CS)"/>
              </a:rPr>
              <a:t>To take the “robot vacuum cleaner” from the early classes, and experiment with different numbers of robots, and different coordination strategies (e.g. robots try to stay a fixed distance from each other, compared to sharing a map that they build up)</a:t>
            </a:r>
            <a:endParaRPr lang="en-GB" sz="16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600" dirty="0">
                <a:effectLst/>
                <a:latin typeface="Helvetica" pitchFamily="2" charset="0"/>
                <a:ea typeface="Calibri" panose="020F0502020204030204" pitchFamily="34" charset="0"/>
                <a:cs typeface="Times New Roman (Body CS)"/>
              </a:rPr>
              <a:t>Explore how multiple language agents, each of which has a particular set of knowledge or perspective can, discuss/argue with each other to explore a topic.</a:t>
            </a:r>
            <a:endParaRPr lang="en-GB" sz="16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600" dirty="0">
                <a:effectLst/>
                <a:latin typeface="Helvetica" pitchFamily="2" charset="0"/>
                <a:ea typeface="Calibri" panose="020F0502020204030204" pitchFamily="34" charset="0"/>
                <a:cs typeface="Times New Roman (Body CS)"/>
              </a:rPr>
              <a:t>Take a number of different trading strategies and run them in the </a:t>
            </a:r>
            <a:r>
              <a:rPr lang="en-GB" sz="1600" i="1" dirty="0">
                <a:effectLst/>
                <a:latin typeface="Helvetica" pitchFamily="2" charset="0"/>
                <a:ea typeface="Calibri" panose="020F0502020204030204" pitchFamily="34" charset="0"/>
                <a:cs typeface="Times New Roman (Body CS)"/>
              </a:rPr>
              <a:t>Bristol Stock Exchange</a:t>
            </a:r>
            <a:r>
              <a:rPr lang="en-GB" sz="1600" dirty="0">
                <a:effectLst/>
                <a:latin typeface="Helvetica" pitchFamily="2" charset="0"/>
                <a:ea typeface="Calibri" panose="020F0502020204030204" pitchFamily="34" charset="0"/>
                <a:cs typeface="Times New Roman (Body CS)"/>
              </a:rPr>
              <a:t> system with varying amounts of noise/uncertainty, to see how robust each strategy is.</a:t>
            </a:r>
            <a:endParaRPr lang="en-GB" sz="16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600" dirty="0">
                <a:effectLst/>
                <a:latin typeface="Helvetica" pitchFamily="2" charset="0"/>
                <a:ea typeface="Calibri" panose="020F0502020204030204" pitchFamily="34" charset="0"/>
                <a:cs typeface="Times New Roman (Body CS)"/>
              </a:rPr>
              <a:t>Develop a game-playing agent or a control agent for an NPC or opponent in a game, and explore different strategies for playing (or learning to play) a game.</a:t>
            </a:r>
            <a:endParaRPr lang="en-GB" sz="16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600" dirty="0">
                <a:effectLst/>
                <a:latin typeface="Helvetica" pitchFamily="2" charset="0"/>
                <a:ea typeface="Calibri" panose="020F0502020204030204" pitchFamily="34" charset="0"/>
                <a:cs typeface="Times New Roman (Body CS)"/>
              </a:rPr>
              <a:t>Take the “avoid the cats” problem from the class, and compare a number of strategies for the problem: warning the cats vs. moving out of the way, and learning when to act based on a simple statistical approach vs. a decision-tree approach.</a:t>
            </a:r>
            <a:endParaRPr lang="en-GB" sz="1600" dirty="0">
              <a:effectLst/>
              <a:latin typeface="Garamond" panose="02020404030301010803" pitchFamily="18" charset="0"/>
              <a:ea typeface="Calibri" panose="020F0502020204030204" pitchFamily="34" charset="0"/>
              <a:cs typeface="Times New Roman (Body CS)"/>
            </a:endParaRPr>
          </a:p>
          <a:p>
            <a:pPr marL="800100" lvl="1" indent="-342900">
              <a:buFont typeface="Symbol" pitchFamily="2" charset="2"/>
              <a:buChar char=""/>
            </a:pPr>
            <a:r>
              <a:rPr lang="en-GB" sz="1600" dirty="0">
                <a:effectLst/>
                <a:latin typeface="Helvetica" pitchFamily="2" charset="0"/>
                <a:ea typeface="Calibri" panose="020F0502020204030204" pitchFamily="34" charset="0"/>
                <a:cs typeface="Times New Roman (Body CS)"/>
              </a:rPr>
              <a:t>Consider the problem of planning a robot’s movement around a mapped environment (e.g. the map generated from </a:t>
            </a:r>
            <a:r>
              <a:rPr lang="en-GB" sz="1600" dirty="0" err="1">
                <a:effectLst/>
                <a:latin typeface="Helvetica" pitchFamily="2" charset="0"/>
                <a:ea typeface="Calibri" panose="020F0502020204030204" pitchFamily="34" charset="0"/>
                <a:cs typeface="Times New Roman (Body CS)"/>
              </a:rPr>
              <a:t>WiFi</a:t>
            </a:r>
            <a:r>
              <a:rPr lang="en-GB" sz="1600" dirty="0">
                <a:effectLst/>
                <a:latin typeface="Helvetica" pitchFamily="2" charset="0"/>
                <a:ea typeface="Calibri" panose="020F0502020204030204" pitchFamily="34" charset="0"/>
                <a:cs typeface="Times New Roman (Body CS)"/>
              </a:rPr>
              <a:t> triangulation introduced in one of the classes). Contrast A* search and genetic algorithms on this problem, and compare them both against random wandering.</a:t>
            </a:r>
            <a:endParaRPr lang="en-GB" sz="1600" dirty="0">
              <a:effectLst/>
              <a:latin typeface="Garamond" panose="02020404030301010803" pitchFamily="18" charset="0"/>
              <a:ea typeface="Calibri" panose="020F0502020204030204" pitchFamily="34" charset="0"/>
              <a:cs typeface="Times New Roman (Body CS)"/>
            </a:endParaRPr>
          </a:p>
          <a:p>
            <a:pPr marL="800100" lvl="1" indent="-342900">
              <a:spcAft>
                <a:spcPts val="600"/>
              </a:spcAft>
              <a:buFont typeface="Symbol" pitchFamily="2" charset="2"/>
              <a:buChar char=""/>
            </a:pPr>
            <a:r>
              <a:rPr lang="en-GB" sz="1600" dirty="0">
                <a:effectLst/>
                <a:latin typeface="Helvetica" pitchFamily="2" charset="0"/>
                <a:ea typeface="Calibri" panose="020F0502020204030204" pitchFamily="34" charset="0"/>
                <a:cs typeface="Times New Roman (Body CS)"/>
              </a:rPr>
              <a:t>Explore a swarm simulation such as the </a:t>
            </a:r>
            <a:r>
              <a:rPr lang="en-GB" sz="1600" i="1" dirty="0" err="1">
                <a:effectLst/>
                <a:latin typeface="Helvetica" pitchFamily="2" charset="0"/>
                <a:ea typeface="Calibri" panose="020F0502020204030204" pitchFamily="34" charset="0"/>
                <a:cs typeface="Times New Roman (Body CS)"/>
              </a:rPr>
              <a:t>Boids</a:t>
            </a:r>
            <a:r>
              <a:rPr lang="en-GB" sz="1600" dirty="0">
                <a:effectLst/>
                <a:latin typeface="Helvetica" pitchFamily="2" charset="0"/>
                <a:ea typeface="Calibri" panose="020F0502020204030204" pitchFamily="34" charset="0"/>
                <a:cs typeface="Times New Roman (Body CS)"/>
              </a:rPr>
              <a:t> flocking algorithm explored in one of the classes, and map out how the overall behaviour of the birds relates to the parameters in the algorithm.</a:t>
            </a:r>
            <a:endParaRPr lang="en-GB" sz="1600" dirty="0">
              <a:effectLst/>
              <a:latin typeface="Garamond" panose="02020404030301010803" pitchFamily="18" charset="0"/>
              <a:ea typeface="Calibri" panose="020F0502020204030204" pitchFamily="34" charset="0"/>
              <a:cs typeface="Times New Roman (Body CS)"/>
            </a:endParaRPr>
          </a:p>
          <a:p>
            <a:endParaRPr lang="en-US" sz="3200" dirty="0"/>
          </a:p>
        </p:txBody>
      </p:sp>
    </p:spTree>
    <p:extLst>
      <p:ext uri="{BB962C8B-B14F-4D97-AF65-F5344CB8AC3E}">
        <p14:creationId xmlns:p14="http://schemas.microsoft.com/office/powerpoint/2010/main" val="3056931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00FA-A4D1-552F-6700-3ED11695F9C1}"/>
              </a:ext>
            </a:extLst>
          </p:cNvPr>
          <p:cNvSpPr>
            <a:spLocks noGrp="1"/>
          </p:cNvSpPr>
          <p:nvPr>
            <p:ph type="title"/>
          </p:nvPr>
        </p:nvSpPr>
        <p:spPr/>
        <p:txBody>
          <a:bodyPr/>
          <a:lstStyle/>
          <a:p>
            <a:r>
              <a:rPr lang="en-US" dirty="0"/>
              <a:t>Topic Approval</a:t>
            </a:r>
          </a:p>
        </p:txBody>
      </p:sp>
      <p:sp>
        <p:nvSpPr>
          <p:cNvPr id="3" name="Content Placeholder 2">
            <a:extLst>
              <a:ext uri="{FF2B5EF4-FFF2-40B4-BE49-F238E27FC236}">
                <a16:creationId xmlns:a16="http://schemas.microsoft.com/office/drawing/2014/main" id="{12F5F771-85A5-4AC6-C6E4-F758EB3E1F54}"/>
              </a:ext>
            </a:extLst>
          </p:cNvPr>
          <p:cNvSpPr>
            <a:spLocks noGrp="1"/>
          </p:cNvSpPr>
          <p:nvPr>
            <p:ph sz="quarter" idx="10"/>
          </p:nvPr>
        </p:nvSpPr>
        <p:spPr/>
        <p:txBody>
          <a:bodyPr/>
          <a:lstStyle/>
          <a:p>
            <a:r>
              <a:rPr lang="en-GB" sz="2000" dirty="0">
                <a:effectLst/>
                <a:latin typeface="Helvetica" pitchFamily="2" charset="0"/>
                <a:ea typeface="Calibri" panose="020F0502020204030204" pitchFamily="34" charset="0"/>
                <a:cs typeface="Times New Roman (Body CS)"/>
              </a:rPr>
              <a:t>You should submit a short description of your project idea (a couple of paragraphs, 100-200 words) on the Moodle page by 15:00 on </a:t>
            </a:r>
            <a:r>
              <a:rPr lang="en-GB" sz="2000" dirty="0">
                <a:latin typeface="Helvetica" pitchFamily="2" charset="0"/>
                <a:ea typeface="Calibri" panose="020F0502020204030204" pitchFamily="34" charset="0"/>
                <a:cs typeface="Times New Roman (Body CS)"/>
              </a:rPr>
              <a:t>13</a:t>
            </a:r>
            <a:r>
              <a:rPr lang="en-GB" sz="2000" baseline="30000" dirty="0">
                <a:effectLst/>
                <a:latin typeface="Helvetica" pitchFamily="2" charset="0"/>
                <a:ea typeface="Calibri" panose="020F0502020204030204" pitchFamily="34" charset="0"/>
                <a:cs typeface="Times New Roman (Body CS)"/>
              </a:rPr>
              <a:t>th</a:t>
            </a:r>
            <a:r>
              <a:rPr lang="en-GB" sz="2000" dirty="0">
                <a:effectLst/>
                <a:latin typeface="Helvetica" pitchFamily="2" charset="0"/>
                <a:ea typeface="Calibri" panose="020F0502020204030204" pitchFamily="34" charset="0"/>
                <a:cs typeface="Times New Roman (Body CS)"/>
              </a:rPr>
              <a:t> March 2026. We will then give you feedback on whether the project is an acceptable one, and how it might be modified or improved if it is not acceptable. If you submit before this date, we will endeavour to give you early feedback.</a:t>
            </a:r>
          </a:p>
          <a:p>
            <a:endParaRPr lang="en-US" sz="3200" dirty="0"/>
          </a:p>
        </p:txBody>
      </p:sp>
    </p:spTree>
    <p:extLst>
      <p:ext uri="{BB962C8B-B14F-4D97-AF65-F5344CB8AC3E}">
        <p14:creationId xmlns:p14="http://schemas.microsoft.com/office/powerpoint/2010/main" val="2882825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0128B-AA20-6509-8DD8-153C560CA078}"/>
              </a:ext>
            </a:extLst>
          </p:cNvPr>
          <p:cNvSpPr>
            <a:spLocks noGrp="1"/>
          </p:cNvSpPr>
          <p:nvPr>
            <p:ph type="title"/>
          </p:nvPr>
        </p:nvSpPr>
        <p:spPr/>
        <p:txBody>
          <a:bodyPr/>
          <a:lstStyle/>
          <a:p>
            <a:r>
              <a:rPr lang="en-US" dirty="0"/>
              <a:t>Submission: </a:t>
            </a:r>
            <a:r>
              <a:rPr lang="en-US" dirty="0" err="1"/>
              <a:t>Deadlnes</a:t>
            </a:r>
            <a:endParaRPr lang="en-US" dirty="0"/>
          </a:p>
        </p:txBody>
      </p:sp>
      <p:sp>
        <p:nvSpPr>
          <p:cNvPr id="3" name="Content Placeholder 2">
            <a:extLst>
              <a:ext uri="{FF2B5EF4-FFF2-40B4-BE49-F238E27FC236}">
                <a16:creationId xmlns:a16="http://schemas.microsoft.com/office/drawing/2014/main" id="{D54B8C5D-A1BD-FBD3-0305-247BD4F60B9F}"/>
              </a:ext>
            </a:extLst>
          </p:cNvPr>
          <p:cNvSpPr>
            <a:spLocks noGrp="1"/>
          </p:cNvSpPr>
          <p:nvPr>
            <p:ph sz="quarter" idx="10"/>
          </p:nvPr>
        </p:nvSpPr>
        <p:spPr/>
        <p:txBody>
          <a:bodyPr/>
          <a:lstStyle/>
          <a:p>
            <a:r>
              <a:rPr lang="en-GB" sz="1800" dirty="0">
                <a:effectLst/>
                <a:latin typeface="Helvetica" pitchFamily="2" charset="0"/>
                <a:ea typeface="Calibri" panose="020F0502020204030204" pitchFamily="34" charset="0"/>
                <a:cs typeface="Times New Roman (Body CS)"/>
              </a:rPr>
              <a:t>By 3pm on 14</a:t>
            </a:r>
            <a:r>
              <a:rPr lang="en-GB" sz="1800" baseline="30000" dirty="0">
                <a:effectLst/>
                <a:latin typeface="Helvetica" pitchFamily="2" charset="0"/>
                <a:ea typeface="Calibri" panose="020F0502020204030204" pitchFamily="34" charset="0"/>
                <a:cs typeface="Times New Roman (Body CS)"/>
              </a:rPr>
              <a:t>th</a:t>
            </a:r>
            <a:r>
              <a:rPr lang="en-GB" sz="1800" dirty="0">
                <a:effectLst/>
                <a:latin typeface="Helvetica" pitchFamily="2" charset="0"/>
                <a:ea typeface="Calibri" panose="020F0502020204030204" pitchFamily="34" charset="0"/>
                <a:cs typeface="Times New Roman (Body CS)"/>
              </a:rPr>
              <a:t> May 2026 you </a:t>
            </a:r>
            <a:r>
              <a:rPr lang="en-GB" sz="1800" dirty="0">
                <a:solidFill>
                  <a:srgbClr val="000000"/>
                </a:solidFill>
                <a:effectLst/>
                <a:latin typeface="Helvetica" pitchFamily="2" charset="0"/>
                <a:ea typeface="Calibri" panose="020F0502020204030204" pitchFamily="34" charset="0"/>
                <a:cs typeface="Times New Roman (Body CS)"/>
              </a:rPr>
              <a:t>should submit your work via Moodle. </a:t>
            </a:r>
            <a:r>
              <a:rPr lang="en-GB" sz="1800" dirty="0">
                <a:effectLst/>
                <a:latin typeface="Helvetica" pitchFamily="2" charset="0"/>
                <a:ea typeface="Calibri" panose="020F0502020204030204" pitchFamily="34" charset="0"/>
                <a:cs typeface="Times New Roman (Body CS)"/>
              </a:rPr>
              <a:t>This deadline may be extended if you have a support plan or extenuating circumstances. Late submissions will incur a penalty of 5% per working day, </a:t>
            </a:r>
            <a:r>
              <a:rPr lang="en-GB" sz="1800" dirty="0">
                <a:solidFill>
                  <a:srgbClr val="000000"/>
                </a:solidFill>
                <a:latin typeface="Helvetica" pitchFamily="2" charset="0"/>
              </a:rPr>
              <a:t>in </a:t>
            </a:r>
            <a:r>
              <a:rPr lang="en-GB" sz="1800" dirty="0">
                <a:effectLst/>
                <a:latin typeface="Helvetica" pitchFamily="2" charset="0"/>
                <a:ea typeface="Calibri" panose="020F0502020204030204" pitchFamily="34" charset="0"/>
                <a:cs typeface="Times New Roman (Body CS)"/>
              </a:rPr>
              <a:t>line with the standard University late policy.</a:t>
            </a:r>
          </a:p>
          <a:p>
            <a:endParaRPr lang="en-US" dirty="0"/>
          </a:p>
        </p:txBody>
      </p:sp>
    </p:spTree>
    <p:extLst>
      <p:ext uri="{BB962C8B-B14F-4D97-AF65-F5344CB8AC3E}">
        <p14:creationId xmlns:p14="http://schemas.microsoft.com/office/powerpoint/2010/main" val="92514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EE3EC-1622-E00E-FB71-70BFC5A58AD5}"/>
              </a:ext>
            </a:extLst>
          </p:cNvPr>
          <p:cNvSpPr>
            <a:spLocks noGrp="1"/>
          </p:cNvSpPr>
          <p:nvPr>
            <p:ph type="title"/>
          </p:nvPr>
        </p:nvSpPr>
        <p:spPr/>
        <p:txBody>
          <a:bodyPr/>
          <a:lstStyle/>
          <a:p>
            <a:r>
              <a:rPr lang="en-US" dirty="0"/>
              <a:t>Submission: Report</a:t>
            </a:r>
          </a:p>
        </p:txBody>
      </p:sp>
      <p:sp>
        <p:nvSpPr>
          <p:cNvPr id="3" name="Content Placeholder 2">
            <a:extLst>
              <a:ext uri="{FF2B5EF4-FFF2-40B4-BE49-F238E27FC236}">
                <a16:creationId xmlns:a16="http://schemas.microsoft.com/office/drawing/2014/main" id="{66CD14D2-A78A-C393-0E41-E1746E93FCB0}"/>
              </a:ext>
            </a:extLst>
          </p:cNvPr>
          <p:cNvSpPr>
            <a:spLocks noGrp="1"/>
          </p:cNvSpPr>
          <p:nvPr>
            <p:ph sz="quarter" idx="10"/>
          </p:nvPr>
        </p:nvSpPr>
        <p:spPr>
          <a:xfrm>
            <a:off x="858838" y="1159610"/>
            <a:ext cx="10258928" cy="5472683"/>
          </a:xfrm>
        </p:spPr>
        <p:txBody>
          <a:bodyPr/>
          <a:lstStyle/>
          <a:p>
            <a:r>
              <a:rPr lang="en-US" sz="2400" dirty="0"/>
              <a:t>A report, between 2500-4000 words, or a 20-minute video, or a 20-minute audio podcast, where you describe:</a:t>
            </a:r>
          </a:p>
          <a:p>
            <a:pPr lvl="1"/>
            <a:r>
              <a:rPr lang="en-US" sz="2000" dirty="0"/>
              <a:t>The core ideas of your project; clearly state the question that you are trying to answer</a:t>
            </a:r>
          </a:p>
          <a:p>
            <a:pPr lvl="1"/>
            <a:r>
              <a:rPr lang="en-US" sz="2000" dirty="0"/>
              <a:t>A review of relevant ideas, technologies and research papers</a:t>
            </a:r>
          </a:p>
          <a:p>
            <a:pPr lvl="1"/>
            <a:r>
              <a:rPr lang="en-US" sz="2000" dirty="0"/>
              <a:t>How you designed the environment and agents in order to address that question</a:t>
            </a:r>
          </a:p>
          <a:p>
            <a:pPr lvl="1"/>
            <a:r>
              <a:rPr lang="en-US" sz="2000" dirty="0"/>
              <a:t>Technologies used, and challenges that you met in doing the implementation</a:t>
            </a:r>
          </a:p>
          <a:p>
            <a:pPr lvl="1"/>
            <a:r>
              <a:rPr lang="en-US" sz="2000" dirty="0"/>
              <a:t>How you set up and ran your experiments</a:t>
            </a:r>
          </a:p>
          <a:p>
            <a:pPr lvl="1"/>
            <a:r>
              <a:rPr lang="en-US" sz="2000" dirty="0"/>
              <a:t>The results from your experiments</a:t>
            </a:r>
          </a:p>
          <a:p>
            <a:pPr lvl="1"/>
            <a:r>
              <a:rPr lang="en-US" sz="2000" dirty="0"/>
              <a:t>A discussion of the question in light of the experimental results</a:t>
            </a:r>
          </a:p>
          <a:p>
            <a:pPr lvl="1"/>
            <a:r>
              <a:rPr lang="en-US" sz="2000" dirty="0"/>
              <a:t>A conclusion, where you </a:t>
            </a:r>
            <a:r>
              <a:rPr lang="en-US" sz="2000" dirty="0" err="1"/>
              <a:t>summarise</a:t>
            </a:r>
            <a:r>
              <a:rPr lang="en-US" sz="2000" dirty="0"/>
              <a:t> the work, reflect on its successes and limitations, and briefly mention some ideas for how you would take the work forward if you had more time</a:t>
            </a:r>
          </a:p>
          <a:p>
            <a:r>
              <a:rPr lang="en-US" sz="2400" dirty="0"/>
              <a:t>The target audience of this is students in your year on your degree—so, there is no need to explain basic computer science ideas, but you should not assume a deep knowledge of your particular topic.</a:t>
            </a:r>
          </a:p>
          <a:p>
            <a:endParaRPr lang="en-US" sz="2400" dirty="0"/>
          </a:p>
        </p:txBody>
      </p:sp>
    </p:spTree>
    <p:extLst>
      <p:ext uri="{BB962C8B-B14F-4D97-AF65-F5344CB8AC3E}">
        <p14:creationId xmlns:p14="http://schemas.microsoft.com/office/powerpoint/2010/main" val="3374987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D68A7-C3FF-1ED8-7557-179F46CB2521}"/>
              </a:ext>
            </a:extLst>
          </p:cNvPr>
          <p:cNvSpPr>
            <a:spLocks noGrp="1"/>
          </p:cNvSpPr>
          <p:nvPr>
            <p:ph type="title"/>
          </p:nvPr>
        </p:nvSpPr>
        <p:spPr/>
        <p:txBody>
          <a:bodyPr/>
          <a:lstStyle/>
          <a:p>
            <a:r>
              <a:rPr lang="en-US" dirty="0"/>
              <a:t>Submission: Supplementary Material</a:t>
            </a:r>
          </a:p>
        </p:txBody>
      </p:sp>
      <p:sp>
        <p:nvSpPr>
          <p:cNvPr id="3" name="Content Placeholder 2">
            <a:extLst>
              <a:ext uri="{FF2B5EF4-FFF2-40B4-BE49-F238E27FC236}">
                <a16:creationId xmlns:a16="http://schemas.microsoft.com/office/drawing/2014/main" id="{12DDCB17-EB90-E0A4-B14D-616F4006AD77}"/>
              </a:ext>
            </a:extLst>
          </p:cNvPr>
          <p:cNvSpPr>
            <a:spLocks noGrp="1"/>
          </p:cNvSpPr>
          <p:nvPr>
            <p:ph sz="quarter" idx="10"/>
          </p:nvPr>
        </p:nvSpPr>
        <p:spPr>
          <a:xfrm>
            <a:off x="870413" y="1217484"/>
            <a:ext cx="10258928" cy="4772838"/>
          </a:xfrm>
        </p:spPr>
        <p:txBody>
          <a:bodyPr/>
          <a:lstStyle/>
          <a:p>
            <a:r>
              <a:rPr lang="en-US" dirty="0"/>
              <a:t>A copy of your code, either as an upload or a link to a repository</a:t>
            </a:r>
          </a:p>
          <a:p>
            <a:r>
              <a:rPr lang="en-US" dirty="0"/>
              <a:t>Anything else that you think would be helpful for the markers, e.g. sample outputs from your system, a link to a brief video demonstrating it working, reports from user studies/interviews etc.</a:t>
            </a:r>
          </a:p>
          <a:p>
            <a:r>
              <a:rPr lang="en-US" dirty="0"/>
              <a:t>For students on COMP3004, the mark for this portfolio of work will count as 100% of the module mark—there is no exam.</a:t>
            </a:r>
          </a:p>
          <a:p>
            <a:endParaRPr lang="en-US" dirty="0"/>
          </a:p>
        </p:txBody>
      </p:sp>
    </p:spTree>
    <p:extLst>
      <p:ext uri="{BB962C8B-B14F-4D97-AF65-F5344CB8AC3E}">
        <p14:creationId xmlns:p14="http://schemas.microsoft.com/office/powerpoint/2010/main" val="217173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CB935-1718-031F-4EAD-8A79940A852A}"/>
              </a:ext>
            </a:extLst>
          </p:cNvPr>
          <p:cNvSpPr>
            <a:spLocks noGrp="1"/>
          </p:cNvSpPr>
          <p:nvPr>
            <p:ph type="title"/>
          </p:nvPr>
        </p:nvSpPr>
        <p:spPr/>
        <p:txBody>
          <a:bodyPr/>
          <a:lstStyle/>
          <a:p>
            <a:r>
              <a:rPr lang="en-US" dirty="0"/>
              <a:t>Presentation (COMP4105 only)</a:t>
            </a:r>
          </a:p>
        </p:txBody>
      </p:sp>
      <p:sp>
        <p:nvSpPr>
          <p:cNvPr id="3" name="Content Placeholder 2">
            <a:extLst>
              <a:ext uri="{FF2B5EF4-FFF2-40B4-BE49-F238E27FC236}">
                <a16:creationId xmlns:a16="http://schemas.microsoft.com/office/drawing/2014/main" id="{6F904D03-FBBF-B247-59B2-8B3FD9CD51DE}"/>
              </a:ext>
            </a:extLst>
          </p:cNvPr>
          <p:cNvSpPr>
            <a:spLocks noGrp="1"/>
          </p:cNvSpPr>
          <p:nvPr>
            <p:ph sz="quarter" idx="10"/>
          </p:nvPr>
        </p:nvSpPr>
        <p:spPr/>
        <p:txBody>
          <a:bodyPr/>
          <a:lstStyle/>
          <a:p>
            <a:pPr>
              <a:spcAft>
                <a:spcPts val="600"/>
              </a:spcAft>
            </a:pPr>
            <a:r>
              <a:rPr lang="en-GB" sz="2400" dirty="0">
                <a:effectLst/>
                <a:latin typeface="Helvetica" pitchFamily="2" charset="0"/>
                <a:ea typeface="Calibri" panose="020F0502020204030204" pitchFamily="34" charset="0"/>
                <a:cs typeface="Times New Roman (Body CS)"/>
              </a:rPr>
              <a:t>In addition to the portfolio of work described for COMP3004, students on COMP4105 should also do a 10-minute presentation about your work (dates/times will be arranged; this is likely to be between 15</a:t>
            </a:r>
            <a:r>
              <a:rPr lang="en-GB" sz="2400" baseline="30000" dirty="0">
                <a:effectLst/>
                <a:latin typeface="Helvetica" pitchFamily="2" charset="0"/>
                <a:ea typeface="Calibri" panose="020F0502020204030204" pitchFamily="34" charset="0"/>
                <a:cs typeface="Times New Roman (Body CS)"/>
              </a:rPr>
              <a:t>th</a:t>
            </a:r>
            <a:r>
              <a:rPr lang="en-GB" sz="2400" dirty="0">
                <a:effectLst/>
                <a:latin typeface="Helvetica" pitchFamily="2" charset="0"/>
                <a:ea typeface="Calibri" panose="020F0502020204030204" pitchFamily="34" charset="0"/>
                <a:cs typeface="Times New Roman (Body CS)"/>
              </a:rPr>
              <a:t>-22</a:t>
            </a:r>
            <a:r>
              <a:rPr lang="en-GB" sz="2400" baseline="30000" dirty="0">
                <a:effectLst/>
                <a:latin typeface="Helvetica" pitchFamily="2" charset="0"/>
                <a:ea typeface="Calibri" panose="020F0502020204030204" pitchFamily="34" charset="0"/>
                <a:cs typeface="Times New Roman (Body CS)"/>
              </a:rPr>
              <a:t>th</a:t>
            </a:r>
            <a:r>
              <a:rPr lang="en-GB" sz="2400" dirty="0">
                <a:effectLst/>
                <a:latin typeface="Helvetica" pitchFamily="2" charset="0"/>
                <a:ea typeface="Calibri" panose="020F0502020204030204" pitchFamily="34" charset="0"/>
                <a:cs typeface="Times New Roman (Body CS)"/>
              </a:rPr>
              <a:t> May 2026). This should give an overview of your project and explain how it is informed by research ideas from AI and intelligent agents.</a:t>
            </a:r>
          </a:p>
          <a:p>
            <a:pPr>
              <a:spcAft>
                <a:spcPts val="600"/>
              </a:spcAft>
            </a:pPr>
            <a:r>
              <a:rPr lang="en-GB" sz="2400" dirty="0">
                <a:effectLst/>
                <a:latin typeface="Helvetica" pitchFamily="2" charset="0"/>
                <a:ea typeface="Calibri" panose="020F0502020204030204" pitchFamily="34" charset="0"/>
                <a:cs typeface="Times New Roman (Body CS)"/>
              </a:rPr>
              <a:t>For students on COMP4105, the portfolio of work (including the report/video/podcast) will count for 90% of the marks on the module and the presentation for 10%—there is no exam.</a:t>
            </a:r>
          </a:p>
          <a:p>
            <a:endParaRPr lang="en-US" sz="2400" dirty="0"/>
          </a:p>
        </p:txBody>
      </p:sp>
    </p:spTree>
    <p:extLst>
      <p:ext uri="{BB962C8B-B14F-4D97-AF65-F5344CB8AC3E}">
        <p14:creationId xmlns:p14="http://schemas.microsoft.com/office/powerpoint/2010/main" val="390873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99887-32F7-B344-B132-C13E4F16B89A}"/>
              </a:ext>
            </a:extLst>
          </p:cNvPr>
          <p:cNvSpPr>
            <a:spLocks noGrp="1"/>
          </p:cNvSpPr>
          <p:nvPr>
            <p:ph type="title"/>
          </p:nvPr>
        </p:nvSpPr>
        <p:spPr/>
        <p:txBody>
          <a:bodyPr/>
          <a:lstStyle/>
          <a:p>
            <a:r>
              <a:rPr lang="en-GB" dirty="0"/>
              <a:t>Presentation (COMP4105 only)</a:t>
            </a:r>
          </a:p>
        </p:txBody>
      </p:sp>
      <p:sp>
        <p:nvSpPr>
          <p:cNvPr id="3" name="Content Placeholder 2">
            <a:extLst>
              <a:ext uri="{FF2B5EF4-FFF2-40B4-BE49-F238E27FC236}">
                <a16:creationId xmlns:a16="http://schemas.microsoft.com/office/drawing/2014/main" id="{B893391A-F830-A74A-8E2C-8A9645DD5D44}"/>
              </a:ext>
            </a:extLst>
          </p:cNvPr>
          <p:cNvSpPr>
            <a:spLocks noGrp="1"/>
          </p:cNvSpPr>
          <p:nvPr>
            <p:ph sz="quarter" idx="10"/>
          </p:nvPr>
        </p:nvSpPr>
        <p:spPr>
          <a:xfrm>
            <a:off x="858838" y="1159611"/>
            <a:ext cx="10258928" cy="5476716"/>
          </a:xfrm>
        </p:spPr>
        <p:txBody>
          <a:bodyPr/>
          <a:lstStyle/>
          <a:p>
            <a:r>
              <a:rPr lang="en-GB" dirty="0"/>
              <a:t>Suggested structure</a:t>
            </a:r>
          </a:p>
          <a:p>
            <a:pPr lvl="1"/>
            <a:r>
              <a:rPr lang="en-GB" dirty="0"/>
              <a:t>Intro to the environment and agents (1-2 slides)</a:t>
            </a:r>
          </a:p>
          <a:p>
            <a:pPr lvl="1"/>
            <a:r>
              <a:rPr lang="en-GB" dirty="0"/>
              <a:t>Question you are asking (1 slide)</a:t>
            </a:r>
          </a:p>
          <a:p>
            <a:pPr lvl="1"/>
            <a:r>
              <a:rPr lang="en-GB" dirty="0"/>
              <a:t>Background—papers you have read and why they are relevant (1 slide)</a:t>
            </a:r>
          </a:p>
          <a:p>
            <a:pPr lvl="1"/>
            <a:r>
              <a:rPr lang="en-GB" dirty="0"/>
              <a:t>What have you implemented (1 slide)</a:t>
            </a:r>
          </a:p>
          <a:p>
            <a:pPr lvl="1"/>
            <a:r>
              <a:rPr lang="en-GB" dirty="0"/>
              <a:t>What experiments have you done (1 slide)</a:t>
            </a:r>
          </a:p>
          <a:p>
            <a:pPr lvl="1"/>
            <a:r>
              <a:rPr lang="en-GB" dirty="0"/>
              <a:t>What are the results (1 slide)</a:t>
            </a:r>
          </a:p>
          <a:p>
            <a:pPr lvl="1"/>
            <a:r>
              <a:rPr lang="en-GB" dirty="0"/>
              <a:t>What can be concluded from those results (1 slide)</a:t>
            </a:r>
          </a:p>
          <a:p>
            <a:pPr lvl="1"/>
            <a:r>
              <a:rPr lang="en-GB" dirty="0"/>
              <a:t>(perhaps) wider implications and what questions do this lead onto (1 slide)</a:t>
            </a:r>
          </a:p>
        </p:txBody>
      </p:sp>
    </p:spTree>
    <p:extLst>
      <p:ext uri="{BB962C8B-B14F-4D97-AF65-F5344CB8AC3E}">
        <p14:creationId xmlns:p14="http://schemas.microsoft.com/office/powerpoint/2010/main" val="114098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DFD76-A7EA-50A9-ABF2-585C9AEA74D4}"/>
              </a:ext>
            </a:extLst>
          </p:cNvPr>
          <p:cNvSpPr>
            <a:spLocks noGrp="1"/>
          </p:cNvSpPr>
          <p:nvPr>
            <p:ph type="title"/>
          </p:nvPr>
        </p:nvSpPr>
        <p:spPr/>
        <p:txBody>
          <a:bodyPr/>
          <a:lstStyle/>
          <a:p>
            <a:r>
              <a:rPr lang="en-US" dirty="0"/>
              <a:t>Academic Integrity</a:t>
            </a:r>
          </a:p>
        </p:txBody>
      </p:sp>
      <p:sp>
        <p:nvSpPr>
          <p:cNvPr id="3" name="Content Placeholder 2">
            <a:extLst>
              <a:ext uri="{FF2B5EF4-FFF2-40B4-BE49-F238E27FC236}">
                <a16:creationId xmlns:a16="http://schemas.microsoft.com/office/drawing/2014/main" id="{460A549B-8680-9ACC-3CB8-1476C05546AC}"/>
              </a:ext>
            </a:extLst>
          </p:cNvPr>
          <p:cNvSpPr>
            <a:spLocks noGrp="1"/>
          </p:cNvSpPr>
          <p:nvPr>
            <p:ph sz="quarter" idx="10"/>
          </p:nvPr>
        </p:nvSpPr>
        <p:spPr/>
        <p:txBody>
          <a:bodyPr/>
          <a:lstStyle/>
          <a:p>
            <a:r>
              <a:rPr lang="en-GB" sz="2400" dirty="0">
                <a:effectLst/>
                <a:latin typeface="Helvetica" pitchFamily="2" charset="0"/>
                <a:ea typeface="Calibri" panose="020F0502020204030204" pitchFamily="34" charset="0"/>
                <a:cs typeface="Times New Roman (Body CS)"/>
              </a:rPr>
              <a:t>This is an individual assessment that should consist of your own unaided work. You should make any direct quotations clear both by using quotation marks and by providing a clear reference to the paper immediately after the quotation. If you are building on someone else’s code (e.g. our code from the classes, open-source projects, etc.), please make it clear which aspects of the code are your work through the use of comments. The University has </a:t>
            </a:r>
            <a:r>
              <a:rPr lang="en-GB" sz="2400" u="none" strike="noStrike" dirty="0">
                <a:solidFill>
                  <a:srgbClr val="0563C1"/>
                </a:solidFill>
                <a:effectLst/>
                <a:latin typeface="Arial" panose="020B0604020202020204" pitchFamily="34" charset="0"/>
                <a:ea typeface="Calibri" panose="020F0502020204030204" pitchFamily="34" charset="0"/>
                <a:cs typeface="Times New Roman (Body CS)"/>
                <a:hlinkClick r:id="rId2"/>
              </a:rPr>
              <a:t>detailed advice about academic integrity</a:t>
            </a:r>
            <a:r>
              <a:rPr lang="en-GB" sz="2400" dirty="0">
                <a:effectLst/>
                <a:latin typeface="Helvetica" pitchFamily="2" charset="0"/>
                <a:ea typeface="Calibri" panose="020F0502020204030204" pitchFamily="34" charset="0"/>
                <a:cs typeface="Times New Roman (Body CS)"/>
              </a:rPr>
              <a:t>, and submissions that demonstrate a lack of that integrity will be treated under appropriate disciplinary procedures.</a:t>
            </a:r>
          </a:p>
          <a:p>
            <a:endParaRPr lang="en-US" sz="3600" dirty="0"/>
          </a:p>
        </p:txBody>
      </p:sp>
    </p:spTree>
    <p:extLst>
      <p:ext uri="{BB962C8B-B14F-4D97-AF65-F5344CB8AC3E}">
        <p14:creationId xmlns:p14="http://schemas.microsoft.com/office/powerpoint/2010/main" val="217466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650B-636B-A44F-A118-2DB3FBF747C1}"/>
              </a:ext>
            </a:extLst>
          </p:cNvPr>
          <p:cNvSpPr>
            <a:spLocks noGrp="1"/>
          </p:cNvSpPr>
          <p:nvPr>
            <p:ph type="title"/>
          </p:nvPr>
        </p:nvSpPr>
        <p:spPr/>
        <p:txBody>
          <a:bodyPr/>
          <a:lstStyle/>
          <a:p>
            <a:r>
              <a:rPr lang="en-GB" dirty="0"/>
              <a:t>How this will be assessed</a:t>
            </a:r>
          </a:p>
        </p:txBody>
      </p:sp>
      <p:sp>
        <p:nvSpPr>
          <p:cNvPr id="3" name="Content Placeholder 2">
            <a:extLst>
              <a:ext uri="{FF2B5EF4-FFF2-40B4-BE49-F238E27FC236}">
                <a16:creationId xmlns:a16="http://schemas.microsoft.com/office/drawing/2014/main" id="{159F3CE8-1C02-4F4C-92C5-7ACC67533DBE}"/>
              </a:ext>
            </a:extLst>
          </p:cNvPr>
          <p:cNvSpPr>
            <a:spLocks noGrp="1"/>
          </p:cNvSpPr>
          <p:nvPr>
            <p:ph sz="quarter" idx="10"/>
          </p:nvPr>
        </p:nvSpPr>
        <p:spPr/>
        <p:txBody>
          <a:bodyPr>
            <a:normAutofit fontScale="70000" lnSpcReduction="20000"/>
          </a:bodyPr>
          <a:lstStyle/>
          <a:p>
            <a:pPr lvl="0"/>
            <a:r>
              <a:rPr lang="en-GB" dirty="0"/>
              <a:t>The intrinsic complexity of the overall project</a:t>
            </a:r>
          </a:p>
          <a:p>
            <a:pPr lvl="0"/>
            <a:r>
              <a:rPr lang="en-GB" dirty="0"/>
              <a:t>Background research and how you have used it to contextualise your work</a:t>
            </a:r>
          </a:p>
          <a:p>
            <a:pPr lvl="0"/>
            <a:r>
              <a:rPr lang="en-GB" dirty="0"/>
              <a:t>The choice of task environment and how you have used it/adapted it for your specific project</a:t>
            </a:r>
          </a:p>
          <a:p>
            <a:pPr lvl="0"/>
            <a:r>
              <a:rPr lang="en-GB" dirty="0"/>
              <a:t>The effective use of artificial intelligence and agent-based systems ideas from the course and your wider studies in designing your autonomous agents</a:t>
            </a:r>
          </a:p>
          <a:p>
            <a:pPr lvl="0"/>
            <a:r>
              <a:rPr lang="en-GB" dirty="0"/>
              <a:t>How clear your question(s) are, how well the experiments have been designed to answer them, and your level of rigour in planning and analysing the experiments</a:t>
            </a:r>
          </a:p>
          <a:p>
            <a:pPr lvl="0"/>
            <a:r>
              <a:rPr lang="en-GB" dirty="0"/>
              <a:t>How well the report answers the question by using the evidence from the experiments</a:t>
            </a:r>
          </a:p>
          <a:p>
            <a:pPr lvl="0"/>
            <a:r>
              <a:rPr lang="en-GB" dirty="0"/>
              <a:t>The overall clarity and structure of the report, appropriate use of scientific and technical </a:t>
            </a:r>
            <a:r>
              <a:rPr lang="en-GB" dirty="0" err="1"/>
              <a:t>english</a:t>
            </a:r>
            <a:r>
              <a:rPr lang="en-GB" dirty="0"/>
              <a:t>, and the quality of charts, diagrams, pseudocode where relevant</a:t>
            </a:r>
          </a:p>
          <a:p>
            <a:pPr lvl="0"/>
            <a:r>
              <a:rPr lang="en-GB" dirty="0"/>
              <a:t>The quality of reflection on the successes and limitations of the work</a:t>
            </a:r>
          </a:p>
          <a:p>
            <a:pPr lvl="0"/>
            <a:r>
              <a:rPr lang="en-GB" dirty="0"/>
              <a:t>(For students doing a presentation) the structure of the presentation, the clarity of explanations, and good use of slides or other visual aids</a:t>
            </a:r>
          </a:p>
          <a:p>
            <a:endParaRPr lang="en-GB" dirty="0"/>
          </a:p>
        </p:txBody>
      </p:sp>
    </p:spTree>
    <p:extLst>
      <p:ext uri="{BB962C8B-B14F-4D97-AF65-F5344CB8AC3E}">
        <p14:creationId xmlns:p14="http://schemas.microsoft.com/office/powerpoint/2010/main" val="48526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Notts">
      <a:dk1>
        <a:sysClr val="windowText" lastClr="000000"/>
      </a:dk1>
      <a:lt1>
        <a:sysClr val="window" lastClr="FFFFFF"/>
      </a:lt1>
      <a:dk2>
        <a:srgbClr val="007DA8"/>
      </a:dk2>
      <a:lt2>
        <a:srgbClr val="009BBD"/>
      </a:lt2>
      <a:accent1>
        <a:srgbClr val="005697"/>
      </a:accent1>
      <a:accent2>
        <a:srgbClr val="1B2A6B"/>
      </a:accent2>
      <a:accent3>
        <a:srgbClr val="191A4F"/>
      </a:accent3>
      <a:accent4>
        <a:srgbClr val="B32C76"/>
      </a:accent4>
      <a:accent5>
        <a:srgbClr val="D27826"/>
      </a:accent5>
      <a:accent6>
        <a:srgbClr val="38A159"/>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a:spPr>
      <a:bodyPr rtlCol="0" anchor="ctr"/>
      <a:lstStyle>
        <a:defPPr algn="ctr">
          <a:defRPr sz="2400" b="1" dirty="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400" dirty="0" err="1" smtClean="0">
            <a:latin typeface="+mj-lt"/>
          </a:defRPr>
        </a:defPPr>
      </a:lstStyle>
    </a:txDef>
  </a:objectDefaults>
  <a:extraClrSchemeLst/>
  <a:extLst>
    <a:ext uri="{05A4C25C-085E-4340-85A3-A5531E510DB2}">
      <thm15:themeFamily xmlns:thm15="http://schemas.microsoft.com/office/thememl/2012/main" name="Presentation6" id="{A3D2834E-CE8D-084F-AB9E-7479A63A9E3F}" vid="{F55BD544-069E-7D46-8448-AE90783330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8510</TotalTime>
  <Words>2492</Words>
  <Application>Microsoft Macintosh PowerPoint</Application>
  <PresentationFormat>Widescreen</PresentationFormat>
  <Paragraphs>106</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Garamond</vt:lpstr>
      <vt:lpstr>Helvetica</vt:lpstr>
      <vt:lpstr>Symbol</vt:lpstr>
      <vt:lpstr>Times New Roman</vt:lpstr>
      <vt:lpstr>Office Theme</vt:lpstr>
      <vt:lpstr>Designing Intelligent Agents: Coursework Introduction</vt:lpstr>
      <vt:lpstr>Coursework Overview</vt:lpstr>
      <vt:lpstr>Autonomous Intelligent Agent</vt:lpstr>
      <vt:lpstr>Autonomous Intelligent Agent</vt:lpstr>
      <vt:lpstr>Specfication: Environment</vt:lpstr>
      <vt:lpstr>Specification: Autonomous Agents</vt:lpstr>
      <vt:lpstr>Specification: A Question</vt:lpstr>
      <vt:lpstr>Specification: Experiments</vt:lpstr>
      <vt:lpstr>Constraints</vt:lpstr>
      <vt:lpstr>Examples</vt:lpstr>
      <vt:lpstr>Topic Approval</vt:lpstr>
      <vt:lpstr>Submission: Deadlnes</vt:lpstr>
      <vt:lpstr>Submission: Report</vt:lpstr>
      <vt:lpstr>Submission: Supplementary Material</vt:lpstr>
      <vt:lpstr>Presentation (COMP4105 only)</vt:lpstr>
      <vt:lpstr>Presentation (COMP4105 only)</vt:lpstr>
      <vt:lpstr>Academic Integrity</vt:lpstr>
      <vt:lpstr>How this will be assessed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Slide</dc:title>
  <dc:creator>Colin Johnson</dc:creator>
  <cp:lastModifiedBy>Colin Johnson</cp:lastModifiedBy>
  <cp:revision>137</cp:revision>
  <dcterms:created xsi:type="dcterms:W3CDTF">2020-09-20T18:59:32Z</dcterms:created>
  <dcterms:modified xsi:type="dcterms:W3CDTF">2026-02-08T23:12:08Z</dcterms:modified>
</cp:coreProperties>
</file>