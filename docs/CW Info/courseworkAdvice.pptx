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89" r:id="rId2"/>
    <p:sldId id="321" r:id="rId3"/>
    <p:sldId id="322" r:id="rId4"/>
    <p:sldId id="325" r:id="rId5"/>
    <p:sldId id="332" r:id="rId6"/>
    <p:sldId id="331" r:id="rId7"/>
    <p:sldId id="301" r:id="rId8"/>
    <p:sldId id="329" r:id="rId9"/>
    <p:sldId id="339" r:id="rId10"/>
    <p:sldId id="340" r:id="rId11"/>
    <p:sldId id="341" r:id="rId12"/>
    <p:sldId id="344" r:id="rId13"/>
    <p:sldId id="349" r:id="rId14"/>
    <p:sldId id="343" r:id="rId15"/>
    <p:sldId id="345" r:id="rId16"/>
    <p:sldId id="348" r:id="rId17"/>
    <p:sldId id="346" r:id="rId18"/>
    <p:sldId id="347" r:id="rId19"/>
    <p:sldId id="337" r:id="rId20"/>
    <p:sldId id="338" r:id="rId21"/>
    <p:sldId id="35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0B4A74C-F69A-40BF-868C-AE17408811A6}">
          <p14:sldIdLst>
            <p14:sldId id="289"/>
            <p14:sldId id="321"/>
            <p14:sldId id="322"/>
            <p14:sldId id="325"/>
            <p14:sldId id="332"/>
            <p14:sldId id="331"/>
            <p14:sldId id="301"/>
            <p14:sldId id="329"/>
            <p14:sldId id="339"/>
            <p14:sldId id="340"/>
            <p14:sldId id="341"/>
            <p14:sldId id="344"/>
            <p14:sldId id="349"/>
            <p14:sldId id="343"/>
            <p14:sldId id="345"/>
            <p14:sldId id="348"/>
            <p14:sldId id="346"/>
            <p14:sldId id="347"/>
            <p14:sldId id="337"/>
            <p14:sldId id="338"/>
            <p14:sldId id="35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ra De Cozar" initials="TDC" lastIdx="3" clrIdx="0">
    <p:extLst>
      <p:ext uri="{19B8F6BF-5375-455C-9EA6-DF929625EA0E}">
        <p15:presenceInfo xmlns:p15="http://schemas.microsoft.com/office/powerpoint/2012/main" userId="S-1-5-21-1664130791-3153540899-3044996548-7165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159"/>
    <a:srgbClr val="112C0B"/>
    <a:srgbClr val="B92121"/>
    <a:srgbClr val="D92A2B"/>
    <a:srgbClr val="004648"/>
    <a:srgbClr val="005E60"/>
    <a:srgbClr val="00766E"/>
    <a:srgbClr val="009186"/>
    <a:srgbClr val="009BBD"/>
    <a:srgbClr val="5540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61" autoAdjust="0"/>
    <p:restoredTop sz="86312" autoAdjust="0"/>
  </p:normalViewPr>
  <p:slideViewPr>
    <p:cSldViewPr snapToGrid="0" snapToObjects="1">
      <p:cViewPr varScale="1">
        <p:scale>
          <a:sx n="114" d="100"/>
          <a:sy n="114" d="100"/>
        </p:scale>
        <p:origin x="192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98" d="100"/>
          <a:sy n="98" d="100"/>
        </p:scale>
        <p:origin x="-364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732D1-0119-4424-ADB1-6A88624C9257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026BA-B8A7-4B5A-A3B0-0B7D31088B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4197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54FE6-3F31-4904-9137-AFF662B7D702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9E1F4-77C1-461E-ABFF-BFE7DD57AF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753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9E1F4-77C1-461E-ABFF-BFE7DD57AFD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9383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it goes over these limits by a little, it doesn’t matter too much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9E1F4-77C1-461E-ABFF-BFE7DD57AFD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578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9E1F4-77C1-461E-ABFF-BFE7DD57AFD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455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9E1F4-77C1-461E-ABFF-BFE7DD57AFD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589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9E1F4-77C1-461E-ABFF-BFE7DD57AFD2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133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>
            <a:off x="0" y="-1"/>
            <a:ext cx="12192000" cy="6858001"/>
          </a:xfrm>
          <a:prstGeom prst="rect">
            <a:avLst/>
          </a:prstGeom>
          <a:blipFill>
            <a:blip r:embed="rId2"/>
            <a:srcRect/>
            <a:stretch>
              <a:fillRect t="-45" b="-4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 userDrawn="1"/>
        </p:nvSpPr>
        <p:spPr>
          <a:xfrm>
            <a:off x="0" y="-2"/>
            <a:ext cx="12192000" cy="6858001"/>
          </a:xfrm>
          <a:prstGeom prst="rect">
            <a:avLst/>
          </a:prstGeom>
          <a:gradFill flip="none" rotWithShape="1">
            <a:gsLst>
              <a:gs pos="50000">
                <a:srgbClr val="0E6394">
                  <a:alpha val="45000"/>
                </a:srgbClr>
              </a:gs>
              <a:gs pos="17000">
                <a:schemeClr val="tx2">
                  <a:alpha val="45000"/>
                </a:schemeClr>
              </a:gs>
              <a:gs pos="100000">
                <a:schemeClr val="accent2">
                  <a:alpha val="4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16300" y="1742900"/>
            <a:ext cx="5359400" cy="23876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416398" y="4161275"/>
            <a:ext cx="5359206" cy="10797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Insert Text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93878" cy="1030941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3396000" y="729000"/>
            <a:ext cx="5400000" cy="54000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9495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oint Cli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>
            <a:off x="0" y="-1"/>
            <a:ext cx="12192000" cy="6858001"/>
          </a:xfrm>
          <a:prstGeom prst="rect">
            <a:avLst/>
          </a:prstGeom>
          <a:blipFill>
            <a:blip r:embed="rId2"/>
            <a:srcRect/>
            <a:stretch>
              <a:fillRect t="-45" b="-4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0000">
                <a:srgbClr val="0E6394">
                  <a:alpha val="45000"/>
                </a:srgbClr>
              </a:gs>
              <a:gs pos="17000">
                <a:schemeClr val="tx2">
                  <a:alpha val="45000"/>
                </a:schemeClr>
              </a:gs>
              <a:gs pos="100000">
                <a:schemeClr val="accent2">
                  <a:alpha val="4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96000" y="1742900"/>
            <a:ext cx="5400000" cy="23876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396099" y="4161275"/>
            <a:ext cx="5399803" cy="10797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Insert Text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93878" cy="1030941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3396000" y="729000"/>
            <a:ext cx="5400000" cy="54000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5853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7000">
                <a:schemeClr val="accent4"/>
              </a:gs>
              <a:gs pos="7000">
                <a:schemeClr val="accent4"/>
              </a:gs>
              <a:gs pos="63000">
                <a:schemeClr val="accent2"/>
              </a:gs>
              <a:gs pos="100000">
                <a:schemeClr val="accent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 userDrawn="1"/>
        </p:nvSpPr>
        <p:spPr>
          <a:xfrm flipH="1">
            <a:off x="0" y="0"/>
            <a:ext cx="12190412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 l="-20940" t="-1372" b="-2288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71876" y="2409650"/>
            <a:ext cx="7262923" cy="2387600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sz="80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09550" y="5562600"/>
            <a:ext cx="11525096" cy="9477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3600" b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Insert Text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93878" cy="103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07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2005010" y="-1"/>
            <a:ext cx="10185395" cy="896471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012" y="98984"/>
            <a:ext cx="10185400" cy="698501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12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753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2005010" y="-1"/>
            <a:ext cx="10185395" cy="896471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012" y="98984"/>
            <a:ext cx="10185400" cy="698501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F0D9B-72AB-8F40-9E26-3180418DB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10258928" cy="477283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590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753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 with Anno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2005010" y="-1"/>
            <a:ext cx="10185395" cy="896471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012" y="98984"/>
            <a:ext cx="10185400" cy="698501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548A2-FB12-2146-8076-97DCD386356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05010" y="1315456"/>
            <a:ext cx="8897937" cy="5029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12DC3E-6500-494A-9C7A-53946AA11C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19362" y="6689529"/>
            <a:ext cx="6171043" cy="16847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4931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753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ing TItl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2005009" y="-2"/>
            <a:ext cx="10185395" cy="896472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012" y="98984"/>
            <a:ext cx="10185400" cy="698501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062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/>
    </p:bldLst>
  </p:timing>
  <p:extLst>
    <p:ext uri="{DCECCB84-F9BA-43D5-87BE-67443E8EF086}">
      <p15:sldGuideLst xmlns:p15="http://schemas.microsoft.com/office/powerpoint/2012/main">
        <p15:guide id="2" pos="7" userDrawn="1">
          <p15:clr>
            <a:srgbClr val="FBAE40"/>
          </p15:clr>
        </p15:guide>
        <p15:guide id="3" pos="753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eacons of Excell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0" y="-1"/>
            <a:ext cx="12192000" cy="6857999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rgbClr val="009BBD"/>
              </a:gs>
              <a:gs pos="100000">
                <a:srgbClr val="1B2A6B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434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H="1" flipV="1">
            <a:off x="-3" y="0"/>
            <a:ext cx="12190413" cy="896471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 userDrawn="1"/>
        </p:nvSpPr>
        <p:spPr>
          <a:xfrm>
            <a:off x="2002004" y="1"/>
            <a:ext cx="10194758" cy="8964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02004" y="98987"/>
            <a:ext cx="10189995" cy="698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E112F-1B58-4F80-8548-230F871317D2}" type="datetimeFigureOut">
              <a:rPr lang="en-GB" smtClean="0"/>
              <a:t>30/04/2026</a:t>
            </a:fld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0"/>
            <a:ext cx="1696455" cy="625991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2D6D5-F6C2-4C88-B07F-0F9DC0B2C389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1997242" y="0"/>
            <a:ext cx="0" cy="89647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49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1" r:id="rId2"/>
    <p:sldLayoutId id="2147483662" r:id="rId3"/>
    <p:sldLayoutId id="2147483658" r:id="rId4"/>
    <p:sldLayoutId id="2147483663" r:id="rId5"/>
    <p:sldLayoutId id="2147483664" r:id="rId6"/>
    <p:sldLayoutId id="2147483650" r:id="rId7"/>
    <p:sldLayoutId id="2147483651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ym.openai.com/" TargetMode="External"/><Relationship Id="rId3" Type="http://schemas.openxmlformats.org/officeDocument/2006/relationships/hyperlink" Target="https://github.com/davecliff/BristolStockExchange" TargetMode="External"/><Relationship Id="rId7" Type="http://schemas.openxmlformats.org/officeDocument/2006/relationships/hyperlink" Target="http://www.gvgai.net/" TargetMode="External"/><Relationship Id="rId2" Type="http://schemas.openxmlformats.org/officeDocument/2006/relationships/hyperlink" Target="http://playerstage.sourceforge.net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robocup.org/leagues/23" TargetMode="External"/><Relationship Id="rId5" Type="http://schemas.openxmlformats.org/officeDocument/2006/relationships/hyperlink" Target="http://torcs.sourceforge.net/" TargetMode="External"/><Relationship Id="rId4" Type="http://schemas.openxmlformats.org/officeDocument/2006/relationships/hyperlink" Target="https://gym.openai.com/envs/MsPacman-v0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Designing Intelligent Agents:</a:t>
            </a:r>
            <a:br>
              <a:rPr lang="en-GB" dirty="0"/>
            </a:br>
            <a:r>
              <a:rPr lang="en-GB" dirty="0"/>
              <a:t>Coursework Advice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416397" y="4948354"/>
            <a:ext cx="5359206" cy="1079795"/>
          </a:xfrm>
        </p:spPr>
        <p:txBody>
          <a:bodyPr/>
          <a:lstStyle/>
          <a:p>
            <a:r>
              <a:rPr lang="en-GB" dirty="0"/>
              <a:t>Colin Johnson</a:t>
            </a:r>
          </a:p>
        </p:txBody>
      </p:sp>
    </p:spTree>
    <p:extLst>
      <p:ext uri="{BB962C8B-B14F-4D97-AF65-F5344CB8AC3E}">
        <p14:creationId xmlns:p14="http://schemas.microsoft.com/office/powerpoint/2010/main" val="285465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793E17-D12C-FB45-AAC8-A95F2AE94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Versions of the Coursework depending on Module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0AB10B-76E8-6044-BBFB-FF7CD54B28F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10258928" cy="5449008"/>
          </a:xfrm>
        </p:spPr>
        <p:txBody>
          <a:bodyPr>
            <a:normAutofit/>
          </a:bodyPr>
          <a:lstStyle/>
          <a:p>
            <a:r>
              <a:rPr lang="en-GB" dirty="0"/>
              <a:t>COMP3004 (primarily undergraduate version)</a:t>
            </a:r>
          </a:p>
          <a:p>
            <a:pPr lvl="1"/>
            <a:r>
              <a:rPr lang="en-GB" dirty="0"/>
              <a:t>A detailed description of your project work; one of:</a:t>
            </a:r>
          </a:p>
          <a:p>
            <a:pPr lvl="2"/>
            <a:r>
              <a:rPr lang="en-GB" dirty="0"/>
              <a:t>a report of 2500-4000 words</a:t>
            </a:r>
          </a:p>
          <a:p>
            <a:pPr lvl="2"/>
            <a:r>
              <a:rPr lang="en-GB" dirty="0"/>
              <a:t>a 20-minute video</a:t>
            </a:r>
          </a:p>
          <a:p>
            <a:pPr lvl="2"/>
            <a:r>
              <a:rPr lang="en-GB" dirty="0"/>
              <a:t>A 20-minute audio podcast</a:t>
            </a:r>
          </a:p>
          <a:p>
            <a:pPr lvl="1"/>
            <a:r>
              <a:rPr lang="en-GB" dirty="0"/>
              <a:t>Your code (files or link to repo, e.g. git)</a:t>
            </a:r>
          </a:p>
          <a:p>
            <a:pPr lvl="1"/>
            <a:r>
              <a:rPr lang="en-GB" dirty="0"/>
              <a:t>Anything else relevant—perhaps example outputs from your system, extended design documents, results, etc. (but, bear in mind that these need to be markable).</a:t>
            </a:r>
          </a:p>
          <a:p>
            <a:r>
              <a:rPr lang="en-GB" dirty="0"/>
              <a:t>COMP4105 (primarily postgraduate version)</a:t>
            </a:r>
          </a:p>
          <a:p>
            <a:pPr lvl="1"/>
            <a:r>
              <a:rPr lang="en-GB" dirty="0"/>
              <a:t>All of the above…</a:t>
            </a:r>
          </a:p>
          <a:p>
            <a:pPr lvl="1"/>
            <a:r>
              <a:rPr lang="en-GB" dirty="0"/>
              <a:t>… plus a 10-minute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461222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F2776-706B-BE40-A9FC-2EDA1AF4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Coursework: Four Main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FE73A-05D2-BF43-8F1B-7F555972B68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An </a:t>
            </a:r>
            <a:r>
              <a:rPr lang="en-GB" i="1" dirty="0"/>
              <a:t>autonomous intelligent agent</a:t>
            </a:r>
          </a:p>
          <a:p>
            <a:r>
              <a:rPr lang="en-GB" dirty="0"/>
              <a:t>…acting in some kind of </a:t>
            </a:r>
            <a:r>
              <a:rPr lang="en-GB" i="1" dirty="0"/>
              <a:t>environment</a:t>
            </a:r>
          </a:p>
          <a:p>
            <a:r>
              <a:rPr lang="en-GB" i="1" dirty="0"/>
              <a:t>…</a:t>
            </a:r>
            <a:r>
              <a:rPr lang="en-GB" dirty="0"/>
              <a:t>about which you ask a </a:t>
            </a:r>
            <a:r>
              <a:rPr lang="en-GB" i="1" dirty="0"/>
              <a:t>scientific or technical question</a:t>
            </a:r>
            <a:r>
              <a:rPr lang="en-GB" dirty="0"/>
              <a:t> (or, set of related questions)</a:t>
            </a:r>
          </a:p>
          <a:p>
            <a:r>
              <a:rPr lang="en-GB" dirty="0"/>
              <a:t>…and which you evaluate using </a:t>
            </a:r>
            <a:r>
              <a:rPr lang="en-GB" i="1" dirty="0"/>
              <a:t>a set of structured, rigorous experiments</a:t>
            </a:r>
          </a:p>
        </p:txBody>
      </p:sp>
    </p:spTree>
    <p:extLst>
      <p:ext uri="{BB962C8B-B14F-4D97-AF65-F5344CB8AC3E}">
        <p14:creationId xmlns:p14="http://schemas.microsoft.com/office/powerpoint/2010/main" val="158618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1812-BE9A-7244-9F86-F29E5D467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Autonomous Intelligent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BF8F3-32C2-A04C-B4C8-BACB939C5EB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5237162" cy="5407444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An autonomous intelligent agent is a computer system that takes in information, uses some kind of AI to process it, and then selects some kind of action that changes the environment</a:t>
            </a:r>
          </a:p>
          <a:p>
            <a:r>
              <a:rPr lang="en-GB" dirty="0"/>
              <a:t>Often, there is:</a:t>
            </a:r>
          </a:p>
          <a:p>
            <a:pPr lvl="1"/>
            <a:r>
              <a:rPr lang="en-GB" dirty="0"/>
              <a:t>a loop by which this change to the environment prompts the next set of inputs</a:t>
            </a:r>
          </a:p>
          <a:p>
            <a:pPr lvl="1"/>
            <a:r>
              <a:rPr lang="en-GB" dirty="0"/>
              <a:t>multiple interacting agents giving rise to emergent behaviour</a:t>
            </a:r>
          </a:p>
          <a:p>
            <a:r>
              <a:rPr lang="en-GB" dirty="0"/>
              <a:t>So, not just something that learns into something static like a set of labels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292FCA-12B1-F849-9364-C47EDED3C717}"/>
              </a:ext>
            </a:extLst>
          </p:cNvPr>
          <p:cNvSpPr/>
          <p:nvPr/>
        </p:nvSpPr>
        <p:spPr>
          <a:xfrm>
            <a:off x="7097712" y="2858945"/>
            <a:ext cx="4097438" cy="2083443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1265A2-70F4-334E-BFCC-84B4DE366F12}"/>
              </a:ext>
            </a:extLst>
          </p:cNvPr>
          <p:cNvCxnSpPr>
            <a:cxnSpLocks/>
          </p:cNvCxnSpPr>
          <p:nvPr/>
        </p:nvCxnSpPr>
        <p:spPr>
          <a:xfrm>
            <a:off x="9084940" y="2097749"/>
            <a:ext cx="0" cy="761196"/>
          </a:xfrm>
          <a:prstGeom prst="straightConnector1">
            <a:avLst/>
          </a:prstGeom>
          <a:ln w="825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1FCA081-EED2-6146-A257-CDE34226EEF4}"/>
              </a:ext>
            </a:extLst>
          </p:cNvPr>
          <p:cNvCxnSpPr>
            <a:cxnSpLocks/>
          </p:cNvCxnSpPr>
          <p:nvPr/>
        </p:nvCxnSpPr>
        <p:spPr>
          <a:xfrm>
            <a:off x="7960990" y="2097749"/>
            <a:ext cx="0" cy="761196"/>
          </a:xfrm>
          <a:prstGeom prst="straightConnector1">
            <a:avLst/>
          </a:prstGeom>
          <a:ln w="825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FCC3A5-F9FA-0642-9BCF-8A762EE8BAEF}"/>
              </a:ext>
            </a:extLst>
          </p:cNvPr>
          <p:cNvCxnSpPr>
            <a:cxnSpLocks/>
          </p:cNvCxnSpPr>
          <p:nvPr/>
        </p:nvCxnSpPr>
        <p:spPr>
          <a:xfrm>
            <a:off x="10208890" y="2097749"/>
            <a:ext cx="0" cy="761196"/>
          </a:xfrm>
          <a:prstGeom prst="straightConnector1">
            <a:avLst/>
          </a:prstGeom>
          <a:ln w="825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A44539-C61C-0741-A990-CF8BAB1C2E07}"/>
              </a:ext>
            </a:extLst>
          </p:cNvPr>
          <p:cNvCxnSpPr>
            <a:cxnSpLocks/>
          </p:cNvCxnSpPr>
          <p:nvPr/>
        </p:nvCxnSpPr>
        <p:spPr>
          <a:xfrm>
            <a:off x="9146431" y="4942388"/>
            <a:ext cx="0" cy="761196"/>
          </a:xfrm>
          <a:prstGeom prst="straightConnector1">
            <a:avLst/>
          </a:prstGeom>
          <a:ln w="825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E31116-42EC-714C-B3AC-1F346FDDF7B1}"/>
              </a:ext>
            </a:extLst>
          </p:cNvPr>
          <p:cNvCxnSpPr>
            <a:cxnSpLocks/>
          </p:cNvCxnSpPr>
          <p:nvPr/>
        </p:nvCxnSpPr>
        <p:spPr>
          <a:xfrm>
            <a:off x="8022481" y="4942388"/>
            <a:ext cx="0" cy="761196"/>
          </a:xfrm>
          <a:prstGeom prst="straightConnector1">
            <a:avLst/>
          </a:prstGeom>
          <a:ln w="825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2F38B9-DBE7-AA48-B5EE-FB518D2222C8}"/>
              </a:ext>
            </a:extLst>
          </p:cNvPr>
          <p:cNvCxnSpPr>
            <a:cxnSpLocks/>
          </p:cNvCxnSpPr>
          <p:nvPr/>
        </p:nvCxnSpPr>
        <p:spPr>
          <a:xfrm>
            <a:off x="10270381" y="4942388"/>
            <a:ext cx="0" cy="761196"/>
          </a:xfrm>
          <a:prstGeom prst="straightConnector1">
            <a:avLst/>
          </a:prstGeom>
          <a:ln w="825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0CD8D04A-FACA-7140-AA59-06673CF08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030" y="2979663"/>
            <a:ext cx="2830801" cy="187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62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1C81A-214C-0D49-A0FB-A0468A055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…to Answer a Scientific or Technical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B1CDA-06A0-F54E-A89B-73E6C81273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10258928" cy="5407444"/>
          </a:xfrm>
        </p:spPr>
        <p:txBody>
          <a:bodyPr>
            <a:noAutofit/>
          </a:bodyPr>
          <a:lstStyle/>
          <a:p>
            <a:pPr lvl="0"/>
            <a:r>
              <a:rPr lang="en-GB" sz="2200" dirty="0"/>
              <a:t>How do different approaches (a genetic algorithm, an A* search algorithm, a hard-coded heuristic) compare in terms of task performance?</a:t>
            </a:r>
          </a:p>
          <a:p>
            <a:pPr lvl="0"/>
            <a:r>
              <a:rPr lang="en-GB" sz="2200" dirty="0"/>
              <a:t>How does the performance of the system change as we vary the number of agents in it?</a:t>
            </a:r>
          </a:p>
          <a:p>
            <a:pPr lvl="0"/>
            <a:r>
              <a:rPr lang="en-GB" sz="2200" dirty="0"/>
              <a:t>If the system is trained on one version of the environment, does that learning transfer over to a new version of the environment</a:t>
            </a:r>
          </a:p>
          <a:p>
            <a:pPr lvl="0"/>
            <a:r>
              <a:rPr lang="en-GB" sz="2200" dirty="0"/>
              <a:t>How do different kinds of communication/coordination between agents effect the efficiency of those agents on the task</a:t>
            </a:r>
          </a:p>
          <a:p>
            <a:pPr lvl="0"/>
            <a:r>
              <a:rPr lang="en-GB" sz="2200" dirty="0"/>
              <a:t>How much improvement does storing some information (e.g. a map of the environment) make compared to carrying out the task in a purely reactive way?</a:t>
            </a:r>
          </a:p>
          <a:p>
            <a:pPr lvl="0"/>
            <a:r>
              <a:rPr lang="en-GB" sz="2200" dirty="0"/>
              <a:t>How do different kinds of sensing/perception systems affect the capacity of the agent to carry out its task?</a:t>
            </a:r>
          </a:p>
          <a:p>
            <a:pPr lvl="0"/>
            <a:r>
              <a:rPr lang="en-GB" sz="2200" dirty="0"/>
              <a:t>How sensitive is the agent to error/noise?</a:t>
            </a:r>
          </a:p>
          <a:p>
            <a:pPr lvl="0"/>
            <a:r>
              <a:rPr lang="en-GB" sz="2200" dirty="0"/>
              <a:t>…</a:t>
            </a:r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179734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3EB4-5514-D841-A517-BCCD93D25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…in an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ACE2E-428E-3043-B611-C1E14CCA31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32364" y="1159610"/>
            <a:ext cx="10185401" cy="5599406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The agent gets information by perceiving its environment, and its actions change the environment.</a:t>
            </a:r>
          </a:p>
          <a:p>
            <a:pPr lvl="1"/>
            <a:r>
              <a:rPr lang="en-GB" sz="2200" dirty="0"/>
              <a:t>A simulation of a physical environment in which mobile robotic agents move. This could be the simulation used in the classes earlier in the semester (perhaps extended), a robot environment such as </a:t>
            </a:r>
            <a:r>
              <a:rPr lang="en-GB" sz="2200" i="1" dirty="0"/>
              <a:t>The Player Project</a:t>
            </a:r>
            <a:r>
              <a:rPr lang="en-GB" sz="2200" dirty="0"/>
              <a:t> (</a:t>
            </a:r>
            <a:r>
              <a:rPr lang="en-GB" sz="2200" dirty="0">
                <a:hlinkClick r:id="rId2"/>
              </a:rPr>
              <a:t>http://playerstage.sourceforge.net</a:t>
            </a:r>
            <a:r>
              <a:rPr lang="en-GB" sz="2200" dirty="0"/>
              <a:t>), or a project in Unity or a similar game environment if you are familiar with one from elsewhere.</a:t>
            </a:r>
          </a:p>
          <a:p>
            <a:pPr lvl="1"/>
            <a:r>
              <a:rPr lang="en-GB" sz="2200" dirty="0"/>
              <a:t>A chatbot environment such as the ones used in the classes</a:t>
            </a:r>
          </a:p>
          <a:p>
            <a:pPr lvl="1"/>
            <a:r>
              <a:rPr lang="en-GB" sz="2200" dirty="0"/>
              <a:t>The blackboard system used in the class where we discussed language agents writing poetry</a:t>
            </a:r>
          </a:p>
          <a:p>
            <a:pPr lvl="1"/>
            <a:r>
              <a:rPr lang="en-GB" sz="2200" dirty="0"/>
              <a:t>The </a:t>
            </a:r>
            <a:r>
              <a:rPr lang="en-GB" sz="2200" i="1" dirty="0"/>
              <a:t>Bristol Stock Exchange</a:t>
            </a:r>
            <a:r>
              <a:rPr lang="en-GB" sz="2200" dirty="0"/>
              <a:t> system introduced in the classes later in the semester (</a:t>
            </a:r>
            <a:r>
              <a:rPr lang="en-GB" sz="2200" dirty="0">
                <a:hlinkClick r:id="rId3"/>
              </a:rPr>
              <a:t>https://github.com/davecliff/BristolStockExchange</a:t>
            </a:r>
            <a:r>
              <a:rPr lang="en-GB" sz="2200" dirty="0"/>
              <a:t>) or a similar simulation of some aspect of the economy or society</a:t>
            </a:r>
          </a:p>
          <a:p>
            <a:pPr lvl="1"/>
            <a:r>
              <a:rPr lang="en-GB" sz="2200" dirty="0"/>
              <a:t>A game environment such as </a:t>
            </a:r>
            <a:r>
              <a:rPr lang="en-GB" sz="2200" i="1" dirty="0"/>
              <a:t>Ms. </a:t>
            </a:r>
            <a:r>
              <a:rPr lang="en-GB" sz="2200" i="1" dirty="0" err="1"/>
              <a:t>PacMan</a:t>
            </a:r>
            <a:r>
              <a:rPr lang="en-GB" sz="2200" dirty="0"/>
              <a:t> (</a:t>
            </a:r>
            <a:r>
              <a:rPr lang="en-GB" sz="2200" dirty="0">
                <a:hlinkClick r:id="rId4"/>
              </a:rPr>
              <a:t>https://gym.openai.com/envs/MsPacman-v0/</a:t>
            </a:r>
            <a:r>
              <a:rPr lang="en-GB" sz="2200" dirty="0"/>
              <a:t>), the </a:t>
            </a:r>
            <a:r>
              <a:rPr lang="en-GB" sz="2200" i="1" dirty="0"/>
              <a:t>Open Racing Car Simulator</a:t>
            </a:r>
            <a:r>
              <a:rPr lang="en-GB" sz="2200" dirty="0"/>
              <a:t> (</a:t>
            </a:r>
            <a:r>
              <a:rPr lang="en-GB" sz="2200" dirty="0">
                <a:hlinkClick r:id="rId5"/>
              </a:rPr>
              <a:t>http://torcs.sourceforge.net</a:t>
            </a:r>
            <a:r>
              <a:rPr lang="en-GB" sz="2200" dirty="0"/>
              <a:t>), RoboCup (</a:t>
            </a:r>
            <a:r>
              <a:rPr lang="en-GB" sz="2200" dirty="0">
                <a:hlinkClick r:id="rId6"/>
              </a:rPr>
              <a:t>https://www.robocup.org/leagues/23</a:t>
            </a:r>
            <a:r>
              <a:rPr lang="en-GB" sz="2200" dirty="0"/>
              <a:t>) or similar (see e.g. </a:t>
            </a:r>
            <a:r>
              <a:rPr lang="en-GB" sz="2200" dirty="0">
                <a:hlinkClick r:id="rId7"/>
              </a:rPr>
              <a:t>http://www.gvgai.net</a:t>
            </a:r>
            <a:r>
              <a:rPr lang="en-GB" sz="2200" dirty="0"/>
              <a:t>)</a:t>
            </a:r>
          </a:p>
          <a:p>
            <a:pPr lvl="1"/>
            <a:r>
              <a:rPr lang="en-GB" sz="2200" dirty="0"/>
              <a:t>One of the more complex task environments from the </a:t>
            </a:r>
            <a:r>
              <a:rPr lang="en-GB" sz="2200" i="1" dirty="0" err="1"/>
              <a:t>OpenAI</a:t>
            </a:r>
            <a:r>
              <a:rPr lang="en-GB" sz="2200" i="1" dirty="0"/>
              <a:t> Gym</a:t>
            </a:r>
            <a:r>
              <a:rPr lang="en-GB" sz="2200" dirty="0"/>
              <a:t> (</a:t>
            </a:r>
            <a:r>
              <a:rPr lang="en-GB" sz="2200" dirty="0">
                <a:hlinkClick r:id="rId8"/>
              </a:rPr>
              <a:t>https://gym.openai.com</a:t>
            </a:r>
            <a:r>
              <a:rPr lang="en-GB" sz="2200" dirty="0"/>
              <a:t>)</a:t>
            </a:r>
          </a:p>
          <a:p>
            <a:pPr lvl="1"/>
            <a:r>
              <a:rPr lang="en-GB" sz="2200" dirty="0"/>
              <a:t>…or something else that you find or build or extend.</a:t>
            </a:r>
          </a:p>
        </p:txBody>
      </p:sp>
    </p:spTree>
    <p:extLst>
      <p:ext uri="{BB962C8B-B14F-4D97-AF65-F5344CB8AC3E}">
        <p14:creationId xmlns:p14="http://schemas.microsoft.com/office/powerpoint/2010/main" val="4170154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6A9A5C-82BA-A749-A12A-CC5CBAAF8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424" y="4945697"/>
            <a:ext cx="1100732" cy="13773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A51032-23FF-D141-9A8B-1CE0DFDD9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393" y="4955104"/>
            <a:ext cx="1100732" cy="13773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B9238A-F378-EC42-AB59-77AB43405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362" y="4947869"/>
            <a:ext cx="1100732" cy="13773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ED04A9-7ACD-F548-9506-8C1CADF41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…and which Analyses that Question Rigorously using Experiments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0F6FD-A3AF-794A-92E5-6B1AA5AC9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31" y="4955104"/>
            <a:ext cx="1100732" cy="13773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24AEC7-7345-7C4D-8D6F-035AE331C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4945698"/>
            <a:ext cx="1100732" cy="137738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9C480085-22E2-3146-B426-B958837A0E8B}"/>
              </a:ext>
            </a:extLst>
          </p:cNvPr>
          <p:cNvSpPr/>
          <p:nvPr/>
        </p:nvSpPr>
        <p:spPr>
          <a:xfrm>
            <a:off x="4826156" y="5490675"/>
            <a:ext cx="152315" cy="147793"/>
          </a:xfrm>
          <a:prstGeom prst="ellipse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1B4579-ECD7-8642-991F-74EE9DB8CB3D}"/>
              </a:ext>
            </a:extLst>
          </p:cNvPr>
          <p:cNvSpPr/>
          <p:nvPr/>
        </p:nvSpPr>
        <p:spPr>
          <a:xfrm>
            <a:off x="5002458" y="5490675"/>
            <a:ext cx="152315" cy="147793"/>
          </a:xfrm>
          <a:prstGeom prst="ellipse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3FFC29E-65B1-164F-B36F-5408429D919D}"/>
              </a:ext>
            </a:extLst>
          </p:cNvPr>
          <p:cNvSpPr/>
          <p:nvPr/>
        </p:nvSpPr>
        <p:spPr>
          <a:xfrm>
            <a:off x="5178760" y="5490675"/>
            <a:ext cx="152315" cy="147793"/>
          </a:xfrm>
          <a:prstGeom prst="ellipse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4A482AB-D00B-644B-B559-6080B0DC4F09}"/>
              </a:ext>
            </a:extLst>
          </p:cNvPr>
          <p:cNvSpPr/>
          <p:nvPr/>
        </p:nvSpPr>
        <p:spPr>
          <a:xfrm>
            <a:off x="791666" y="4049712"/>
            <a:ext cx="3800475" cy="783467"/>
          </a:xfrm>
          <a:prstGeom prst="roundRect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+mj-lt"/>
              </a:rPr>
              <a:t>Setup Parameters and run Experiments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DDE89B9-1D54-0A4B-AD91-67705EE83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275" y="4936290"/>
            <a:ext cx="1100732" cy="137738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0D6E4F9-80B8-D842-A0CA-6EE9D6205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244" y="4945697"/>
            <a:ext cx="1100732" cy="137738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6140EDC-9D15-7941-8A63-D68979C3A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213" y="4938462"/>
            <a:ext cx="1100732" cy="13773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4169200-98F4-584D-9696-BA100510D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182" y="4945697"/>
            <a:ext cx="1100732" cy="137738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38A6ABF-16A6-1647-8FEC-F179CDDE3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1" y="4936291"/>
            <a:ext cx="1100732" cy="1377387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F0D4545E-21B4-8441-913E-F0D5AFA1FC80}"/>
              </a:ext>
            </a:extLst>
          </p:cNvPr>
          <p:cNvSpPr/>
          <p:nvPr/>
        </p:nvSpPr>
        <p:spPr>
          <a:xfrm>
            <a:off x="10373007" y="5481268"/>
            <a:ext cx="152315" cy="147793"/>
          </a:xfrm>
          <a:prstGeom prst="ellipse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1CC9C90-C056-394B-9725-F6D68FB69A0F}"/>
              </a:ext>
            </a:extLst>
          </p:cNvPr>
          <p:cNvSpPr/>
          <p:nvPr/>
        </p:nvSpPr>
        <p:spPr>
          <a:xfrm>
            <a:off x="10549309" y="5481268"/>
            <a:ext cx="152315" cy="147793"/>
          </a:xfrm>
          <a:prstGeom prst="ellipse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3872B44-0FD8-7E41-B383-679502ED0B48}"/>
              </a:ext>
            </a:extLst>
          </p:cNvPr>
          <p:cNvSpPr/>
          <p:nvPr/>
        </p:nvSpPr>
        <p:spPr>
          <a:xfrm>
            <a:off x="10725611" y="5481268"/>
            <a:ext cx="152315" cy="147793"/>
          </a:xfrm>
          <a:prstGeom prst="ellipse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57C001E-F238-8444-B6F7-BC4313EB2D69}"/>
              </a:ext>
            </a:extLst>
          </p:cNvPr>
          <p:cNvSpPr/>
          <p:nvPr/>
        </p:nvSpPr>
        <p:spPr>
          <a:xfrm>
            <a:off x="6338517" y="4040305"/>
            <a:ext cx="3800475" cy="783467"/>
          </a:xfrm>
          <a:prstGeom prst="roundRect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+mj-lt"/>
              </a:rPr>
              <a:t>Setup Parameters and run Experiments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A6550FD-CA67-A94A-B4E7-07F6B66D6A3B}"/>
              </a:ext>
            </a:extLst>
          </p:cNvPr>
          <p:cNvSpPr/>
          <p:nvPr/>
        </p:nvSpPr>
        <p:spPr>
          <a:xfrm>
            <a:off x="3769113" y="2780375"/>
            <a:ext cx="3800475" cy="783467"/>
          </a:xfrm>
          <a:prstGeom prst="roundRect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+mj-lt"/>
              </a:rPr>
              <a:t>Run All Experiments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40F6DA-EE05-304E-A523-981AF0DC42CC}"/>
              </a:ext>
            </a:extLst>
          </p:cNvPr>
          <p:cNvCxnSpPr>
            <a:cxnSpLocks/>
          </p:cNvCxnSpPr>
          <p:nvPr/>
        </p:nvCxnSpPr>
        <p:spPr>
          <a:xfrm flipV="1">
            <a:off x="5178760" y="2028678"/>
            <a:ext cx="493789" cy="6956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2D5B9B4-F2EE-A74B-91E9-0A9F5A0A611D}"/>
              </a:ext>
            </a:extLst>
          </p:cNvPr>
          <p:cNvSpPr/>
          <p:nvPr/>
        </p:nvSpPr>
        <p:spPr>
          <a:xfrm>
            <a:off x="5782231" y="1234060"/>
            <a:ext cx="2542106" cy="1213040"/>
          </a:xfrm>
          <a:prstGeom prst="roundRect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+mj-lt"/>
              </a:rPr>
              <a:t>Visualise and Analyse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147CB1-1308-F647-B146-4C2D4AE1055E}"/>
              </a:ext>
            </a:extLst>
          </p:cNvPr>
          <p:cNvSpPr/>
          <p:nvPr/>
        </p:nvSpPr>
        <p:spPr>
          <a:xfrm>
            <a:off x="7987860" y="1376921"/>
            <a:ext cx="30282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</a:rPr>
              <a:t>Visualisation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</a:rPr>
              <a:t>Descriptive statistics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</a:rPr>
              <a:t>Inferential statistics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3773541-7B5E-EF4F-8821-7166D1456F35}"/>
              </a:ext>
            </a:extLst>
          </p:cNvPr>
          <p:cNvSpPr/>
          <p:nvPr/>
        </p:nvSpPr>
        <p:spPr>
          <a:xfrm>
            <a:off x="9875524" y="940223"/>
            <a:ext cx="30282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GB" dirty="0">
                <a:latin typeface="+mj-lt"/>
              </a:rPr>
              <a:t>Conclusion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A3D7FD6-8848-EE43-BC1B-BFE0EEF5A0C8}"/>
              </a:ext>
            </a:extLst>
          </p:cNvPr>
          <p:cNvCxnSpPr>
            <a:cxnSpLocks/>
          </p:cNvCxnSpPr>
          <p:nvPr/>
        </p:nvCxnSpPr>
        <p:spPr>
          <a:xfrm flipV="1">
            <a:off x="10138992" y="1309555"/>
            <a:ext cx="586619" cy="3668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01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4E42-F38E-2245-809A-6DDB61A92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 of your Report/Video/Podcast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3DF9E-219A-3046-B8CB-546F3E4127F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10258928" cy="5462862"/>
          </a:xfrm>
        </p:spPr>
        <p:txBody>
          <a:bodyPr>
            <a:normAutofit lnSpcReduction="10000"/>
          </a:bodyPr>
          <a:lstStyle/>
          <a:p>
            <a:pPr lvl="0"/>
            <a:r>
              <a:rPr lang="en-GB" sz="2400" dirty="0"/>
              <a:t>The core ideas of your project; clearly state the question that you are trying to answer</a:t>
            </a:r>
          </a:p>
          <a:p>
            <a:pPr lvl="0"/>
            <a:r>
              <a:rPr lang="en-GB" sz="2400" dirty="0"/>
              <a:t>A review of relevant ideas, technologies and research papers</a:t>
            </a:r>
          </a:p>
          <a:p>
            <a:pPr lvl="1"/>
            <a:r>
              <a:rPr lang="en-GB" sz="2000" dirty="0"/>
              <a:t>you should mention at least 2-3 papers, books, pieces of software, technologies, etc.—more if you want to!</a:t>
            </a:r>
          </a:p>
          <a:p>
            <a:pPr lvl="0"/>
            <a:r>
              <a:rPr lang="en-GB" sz="2400" dirty="0"/>
              <a:t>How you designed the environment and agents in order to address that question</a:t>
            </a:r>
          </a:p>
          <a:p>
            <a:pPr lvl="0"/>
            <a:r>
              <a:rPr lang="en-GB" sz="2400" dirty="0"/>
              <a:t>Technologies used, and challenges that you met in doing the implementation</a:t>
            </a:r>
          </a:p>
          <a:p>
            <a:pPr lvl="0"/>
            <a:r>
              <a:rPr lang="en-GB" sz="2400" dirty="0"/>
              <a:t>How you set up and ran your experiments</a:t>
            </a:r>
          </a:p>
          <a:p>
            <a:pPr lvl="0"/>
            <a:r>
              <a:rPr lang="en-GB" sz="2400" dirty="0"/>
              <a:t>The results from your experiments</a:t>
            </a:r>
          </a:p>
          <a:p>
            <a:pPr lvl="0"/>
            <a:r>
              <a:rPr lang="en-GB" sz="2400" dirty="0"/>
              <a:t>A discussion of the question in light of the experimental results</a:t>
            </a:r>
          </a:p>
          <a:p>
            <a:pPr lvl="0"/>
            <a:r>
              <a:rPr lang="en-GB" sz="2400" dirty="0"/>
              <a:t>A conclusion, where you summarise the work, reflect on its successes and limitations, and briefly mention some ideas for how you would take the work forward if you had more time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73750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5B79-091F-D368-9B86-B546C3E78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 and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D5A0D-D453-709E-F701-B83CA379A24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0"/>
            <a:ext cx="10258928" cy="5501249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You should put your paper into context, </a:t>
            </a:r>
            <a:br>
              <a:rPr lang="en-GB" dirty="0"/>
            </a:br>
            <a:r>
              <a:rPr lang="en-GB" dirty="0"/>
              <a:t>by mentioning other work that is relevant:</a:t>
            </a:r>
          </a:p>
          <a:p>
            <a:pPr lvl="1"/>
            <a:r>
              <a:rPr lang="en-GB" dirty="0"/>
              <a:t>software libraries</a:t>
            </a:r>
          </a:p>
          <a:p>
            <a:pPr lvl="1"/>
            <a:r>
              <a:rPr lang="en-GB" dirty="0"/>
              <a:t>research articles</a:t>
            </a:r>
          </a:p>
          <a:p>
            <a:pPr lvl="1"/>
            <a:r>
              <a:rPr lang="en-GB" dirty="0"/>
              <a:t>textbooks</a:t>
            </a:r>
          </a:p>
          <a:p>
            <a:pPr lvl="1"/>
            <a:r>
              <a:rPr lang="en-GB" dirty="0"/>
              <a:t>online lectures</a:t>
            </a:r>
          </a:p>
          <a:p>
            <a:pPr lvl="1"/>
            <a:r>
              <a:rPr lang="en-GB" dirty="0"/>
              <a:t>…</a:t>
            </a:r>
          </a:p>
          <a:p>
            <a:r>
              <a:rPr lang="en-GB" dirty="0"/>
              <a:t>For the purpose of this assessment, a wide variety of sources are acceptable…you don't have to restrict yourself to peer-reviewed scientific literature</a:t>
            </a:r>
          </a:p>
          <a:p>
            <a:r>
              <a:rPr lang="en-GB" dirty="0"/>
              <a:t>Be consistent with referencing; any style is acceptable, but stick to it</a:t>
            </a:r>
          </a:p>
          <a:p>
            <a:pPr lvl="1"/>
            <a:r>
              <a:rPr lang="en-GB" dirty="0"/>
              <a:t>For videos, use e.g. text footnote for references, image of book, or reference slide at the end)</a:t>
            </a:r>
          </a:p>
          <a:p>
            <a:pPr lvl="1"/>
            <a:r>
              <a:rPr lang="en-GB" dirty="0"/>
              <a:t>For podcast, perhaps full references at the end or in notes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85410B-E9FB-52A6-652E-28E3F691D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7140"/>
            <a:ext cx="5750801" cy="33824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62C87A-C37B-7C52-3413-D2D5826CB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322" y="1474141"/>
            <a:ext cx="5660533" cy="332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C1680-9F6D-38E7-1711-AC4FA55D3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what way can some work be relevant?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21FBE-B3DA-17CF-5B2E-0B957AE0035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You might have built on it in some way: using an software, adapting and implementing an idea, using some analysis technique</a:t>
            </a:r>
          </a:p>
          <a:p>
            <a:r>
              <a:rPr lang="en-GB" dirty="0"/>
              <a:t>You might contrast your work with it: I did this, here are some research results from another group, here is how the two things differ…</a:t>
            </a:r>
          </a:p>
          <a:p>
            <a:r>
              <a:rPr lang="en-GB" dirty="0"/>
              <a:t>You might have gotten the initial idea from it: here is a well-known problem, I'm tackling it in this way…</a:t>
            </a:r>
          </a:p>
          <a:p>
            <a:r>
              <a:rPr lang="en-GB" dirty="0"/>
              <a:t>You might have got some resource from it, e.g. a dataset.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6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6E79-EAC7-CE9A-D5A5-DFEA8DF1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and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2BD15-3331-6CF6-D2FD-51FBD1BE049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Say what you did—and why!</a:t>
            </a:r>
          </a:p>
          <a:p>
            <a:r>
              <a:rPr lang="en-GB" dirty="0"/>
              <a:t>If you used existing software, make it clear what is your work</a:t>
            </a:r>
          </a:p>
          <a:p>
            <a:pPr lvl="1"/>
            <a:r>
              <a:rPr lang="en-GB" dirty="0"/>
              <a:t>in your report</a:t>
            </a:r>
          </a:p>
          <a:p>
            <a:pPr lvl="1"/>
            <a:r>
              <a:rPr lang="en-GB" dirty="0"/>
              <a:t>and in comments in your code</a:t>
            </a:r>
          </a:p>
          <a:p>
            <a:r>
              <a:rPr lang="en-GB" dirty="0"/>
              <a:t>Try to give a broad overview of the design of your agents/environment.</a:t>
            </a:r>
          </a:p>
          <a:p>
            <a:pPr lvl="1"/>
            <a:r>
              <a:rPr lang="en-GB" dirty="0"/>
              <a:t>Why were they designed in this way? What were the alternatives?</a:t>
            </a:r>
          </a:p>
          <a:p>
            <a:pPr lvl="1"/>
            <a:r>
              <a:rPr lang="en-GB" dirty="0"/>
              <a:t>How does this design help us to answer the question that you have chosen?</a:t>
            </a:r>
          </a:p>
          <a:p>
            <a:r>
              <a:rPr lang="en-GB" dirty="0"/>
              <a:t>Talk about specific implementation challenges, if relevant</a:t>
            </a:r>
          </a:p>
          <a:p>
            <a:pPr lvl="1"/>
            <a:r>
              <a:rPr lang="en-GB" dirty="0"/>
              <a:t>…but don't give a line-by-line account of the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94896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00953-4836-BFC6-83CE-A86DE849A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"Added Value"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03564-D555-EF1F-BE01-5C36460F5C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4919662" cy="4772838"/>
          </a:xfrm>
        </p:spPr>
        <p:txBody>
          <a:bodyPr/>
          <a:lstStyle/>
          <a:p>
            <a:r>
              <a:rPr lang="en-GB" dirty="0"/>
              <a:t>You should explain how your work "adds value" to existing work</a:t>
            </a:r>
          </a:p>
          <a:p>
            <a:r>
              <a:rPr lang="en-GB" dirty="0"/>
              <a:t>This could be:</a:t>
            </a:r>
          </a:p>
          <a:p>
            <a:pPr lvl="1"/>
            <a:r>
              <a:rPr lang="en-GB" dirty="0"/>
              <a:t>how you have added features to the agent or environment</a:t>
            </a:r>
          </a:p>
          <a:p>
            <a:pPr lvl="1"/>
            <a:r>
              <a:rPr lang="en-GB" dirty="0"/>
              <a:t>how you have used existing software/ideas/resources to ask interesting questions</a:t>
            </a:r>
          </a:p>
          <a:p>
            <a:pPr lvl="1"/>
            <a:r>
              <a:rPr lang="en-GB" dirty="0"/>
              <a:t>how you have analysed and evaluated your 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DBF3C9-49E5-FA02-5D71-B1CD91676920}"/>
              </a:ext>
            </a:extLst>
          </p:cNvPr>
          <p:cNvSpPr/>
          <p:nvPr/>
        </p:nvSpPr>
        <p:spPr>
          <a:xfrm>
            <a:off x="7097712" y="3086100"/>
            <a:ext cx="977900" cy="2501900"/>
          </a:xfrm>
          <a:prstGeom prst="rect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2400" b="1" dirty="0">
                <a:latin typeface="+mj-lt"/>
              </a:rPr>
              <a:t>Existing work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8CD94C-4605-BC62-9111-8296D8BB404B}"/>
              </a:ext>
            </a:extLst>
          </p:cNvPr>
          <p:cNvSpPr/>
          <p:nvPr/>
        </p:nvSpPr>
        <p:spPr>
          <a:xfrm>
            <a:off x="8458200" y="4229100"/>
            <a:ext cx="977900" cy="1358900"/>
          </a:xfrm>
          <a:prstGeom prst="rect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2400" b="1" dirty="0">
                <a:latin typeface="+mj-lt"/>
              </a:rPr>
              <a:t>Existing work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0D5F08-79E2-352B-3842-1B53C5A3F8E1}"/>
              </a:ext>
            </a:extLst>
          </p:cNvPr>
          <p:cNvSpPr/>
          <p:nvPr/>
        </p:nvSpPr>
        <p:spPr>
          <a:xfrm>
            <a:off x="7097712" y="1727200"/>
            <a:ext cx="977900" cy="13589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2400" b="1" dirty="0">
                <a:latin typeface="+mj-lt"/>
              </a:rPr>
              <a:t>Your work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956B0F-6DDC-DC7A-AAF3-D13F5A30E557}"/>
              </a:ext>
            </a:extLst>
          </p:cNvPr>
          <p:cNvSpPr/>
          <p:nvPr/>
        </p:nvSpPr>
        <p:spPr>
          <a:xfrm>
            <a:off x="8458200" y="2870200"/>
            <a:ext cx="977900" cy="13589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2400" b="1" dirty="0">
                <a:latin typeface="+mj-lt"/>
              </a:rPr>
              <a:t>Your work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0090A5-47FE-C89E-97E1-083A81BD8FC3}"/>
              </a:ext>
            </a:extLst>
          </p:cNvPr>
          <p:cNvCxnSpPr>
            <a:cxnSpLocks/>
          </p:cNvCxnSpPr>
          <p:nvPr/>
        </p:nvCxnSpPr>
        <p:spPr>
          <a:xfrm>
            <a:off x="7097712" y="1727200"/>
            <a:ext cx="44973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0DD373-50B2-AB1C-C641-B7D3D3BE2E2E}"/>
              </a:ext>
            </a:extLst>
          </p:cNvPr>
          <p:cNvCxnSpPr>
            <a:cxnSpLocks/>
          </p:cNvCxnSpPr>
          <p:nvPr/>
        </p:nvCxnSpPr>
        <p:spPr>
          <a:xfrm>
            <a:off x="8458200" y="2870200"/>
            <a:ext cx="3136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Up-down Arrow 17">
            <a:extLst>
              <a:ext uri="{FF2B5EF4-FFF2-40B4-BE49-F238E27FC236}">
                <a16:creationId xmlns:a16="http://schemas.microsoft.com/office/drawing/2014/main" id="{6B19DCE3-9B4E-8D1B-9508-0A8140BE4465}"/>
              </a:ext>
            </a:extLst>
          </p:cNvPr>
          <p:cNvSpPr/>
          <p:nvPr/>
        </p:nvSpPr>
        <p:spPr>
          <a:xfrm>
            <a:off x="9818688" y="1746263"/>
            <a:ext cx="508000" cy="1123937"/>
          </a:xfrm>
          <a:prstGeom prst="upDownArrow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795655-3401-9EB9-D0B8-2608F3B2522D}"/>
              </a:ext>
            </a:extLst>
          </p:cNvPr>
          <p:cNvSpPr txBox="1"/>
          <p:nvPr/>
        </p:nvSpPr>
        <p:spPr>
          <a:xfrm>
            <a:off x="10326688" y="1993038"/>
            <a:ext cx="2060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+mj-lt"/>
              </a:rPr>
              <a:t>This difference doesn't matter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2FF9B0-7624-749C-BAE9-B473A9F044C3}"/>
              </a:ext>
            </a:extLst>
          </p:cNvPr>
          <p:cNvSpPr txBox="1"/>
          <p:nvPr/>
        </p:nvSpPr>
        <p:spPr>
          <a:xfrm>
            <a:off x="9534525" y="3380372"/>
            <a:ext cx="20605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+mj-lt"/>
              </a:rPr>
              <a:t>This does!</a:t>
            </a:r>
          </a:p>
        </p:txBody>
      </p:sp>
    </p:spTree>
    <p:extLst>
      <p:ext uri="{BB962C8B-B14F-4D97-AF65-F5344CB8AC3E}">
        <p14:creationId xmlns:p14="http://schemas.microsoft.com/office/powerpoint/2010/main" val="4185804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0B8B6-8D81-6822-09C2-CBB72320E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99D60-B29D-BD25-6D53-94FF7A6E412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10258928" cy="5163130"/>
          </a:xfrm>
        </p:spPr>
        <p:txBody>
          <a:bodyPr/>
          <a:lstStyle/>
          <a:p>
            <a:r>
              <a:rPr lang="en-GB" dirty="0"/>
              <a:t>Evaluation could be through qualitative features:</a:t>
            </a:r>
          </a:p>
          <a:p>
            <a:pPr lvl="1"/>
            <a:r>
              <a:rPr lang="en-GB" dirty="0"/>
              <a:t>accuracy</a:t>
            </a:r>
          </a:p>
          <a:p>
            <a:pPr lvl="1"/>
            <a:r>
              <a:rPr lang="en-GB" dirty="0"/>
              <a:t>speed</a:t>
            </a:r>
          </a:p>
          <a:p>
            <a:pPr lvl="1"/>
            <a:r>
              <a:rPr lang="en-GB" dirty="0"/>
              <a:t>task success</a:t>
            </a:r>
          </a:p>
          <a:p>
            <a:r>
              <a:rPr lang="en-GB" dirty="0"/>
              <a:t>…by detailed examples</a:t>
            </a:r>
          </a:p>
          <a:p>
            <a:pPr lvl="1"/>
            <a:r>
              <a:rPr lang="en-GB" dirty="0"/>
              <a:t>e.g. you might animate a robot navigating through an environment, and then include that video or a screenshot in your submission and discuss specific features</a:t>
            </a:r>
          </a:p>
          <a:p>
            <a:r>
              <a:rPr lang="en-GB" dirty="0"/>
              <a:t>…or through qualitative aspects:</a:t>
            </a:r>
          </a:p>
          <a:p>
            <a:pPr lvl="1"/>
            <a:r>
              <a:rPr lang="en-GB" dirty="0"/>
              <a:t>asking people to use your system and getting them to comment on it</a:t>
            </a:r>
          </a:p>
          <a:p>
            <a:pPr lvl="1"/>
            <a:r>
              <a:rPr lang="en-GB" dirty="0"/>
              <a:t>you don't have to ask them to </a:t>
            </a:r>
            <a:r>
              <a:rPr lang="en-GB" i="1" dirty="0"/>
              <a:t>judge</a:t>
            </a:r>
            <a:r>
              <a:rPr lang="en-GB" dirty="0"/>
              <a:t> their interaction...you could gather an account of their interactions, and present the themes that come through in that account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14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C7B1-7FD8-E996-CB6E-B4086257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BFADC-7166-903F-8514-C45050AF957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How did you set up your experiments?</a:t>
            </a:r>
          </a:p>
          <a:p>
            <a:r>
              <a:rPr lang="en-GB" dirty="0"/>
              <a:t>How did you automate this (where relevant)?</a:t>
            </a:r>
          </a:p>
          <a:p>
            <a:r>
              <a:rPr lang="en-GB" dirty="0"/>
              <a:t>Often, your question will be about contrasts:</a:t>
            </a:r>
          </a:p>
          <a:p>
            <a:pPr lvl="1"/>
            <a:r>
              <a:rPr lang="en-GB" dirty="0"/>
              <a:t>what happens if I vary some parameters?</a:t>
            </a:r>
          </a:p>
          <a:p>
            <a:pPr lvl="1"/>
            <a:r>
              <a:rPr lang="en-GB" dirty="0"/>
              <a:t>what is the difference between these two (or more) scenarios?</a:t>
            </a:r>
          </a:p>
          <a:p>
            <a:r>
              <a:rPr lang="en-GB" dirty="0"/>
              <a:t>…if so, how did you choose which parameters to change, which scenarios to use? How does this relate to your question?</a:t>
            </a:r>
          </a:p>
        </p:txBody>
      </p:sp>
    </p:spTree>
    <p:extLst>
      <p:ext uri="{BB962C8B-B14F-4D97-AF65-F5344CB8AC3E}">
        <p14:creationId xmlns:p14="http://schemas.microsoft.com/office/powerpoint/2010/main" val="3734511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026C9-FDB0-E1A5-657C-94DA2F348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9A303-5EBC-8B3B-0BDA-87CCFCF4BD9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Clear presentation of results:</a:t>
            </a:r>
          </a:p>
          <a:p>
            <a:pPr lvl="1"/>
            <a:r>
              <a:rPr lang="en-GB" dirty="0"/>
              <a:t>quantitative: charts, tables</a:t>
            </a:r>
          </a:p>
          <a:p>
            <a:pPr lvl="1"/>
            <a:r>
              <a:rPr lang="en-GB" dirty="0"/>
              <a:t>qualitative: themes, illustrative quotations</a:t>
            </a:r>
          </a:p>
          <a:p>
            <a:r>
              <a:rPr lang="en-GB" dirty="0"/>
              <a:t>If your agent behaviour has some randomness, make sure that your results demonstrate multiple runs</a:t>
            </a:r>
          </a:p>
          <a:p>
            <a:pPr lvl="1"/>
            <a:r>
              <a:rPr lang="en-GB" dirty="0"/>
              <a:t>…summarised e.g. by mean and standard deviation</a:t>
            </a:r>
          </a:p>
          <a:p>
            <a:r>
              <a:rPr lang="en-GB" dirty="0"/>
              <a:t>One experiment, one chart/table</a:t>
            </a:r>
          </a:p>
          <a:p>
            <a:pPr lvl="1"/>
            <a:r>
              <a:rPr lang="en-GB" dirty="0"/>
              <a:t>don't make it over-complicated</a:t>
            </a:r>
          </a:p>
          <a:p>
            <a:r>
              <a:rPr lang="en-GB" dirty="0"/>
              <a:t>…plus, perhaps, a summary of multiple experiments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359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62C0D-D023-CE0E-BDF6-57AFF3607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Discussion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6CA9B-339E-4520-52C7-0409B7C4390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Don't just present the results and then…done!</a:t>
            </a:r>
          </a:p>
          <a:p>
            <a:r>
              <a:rPr lang="en-GB" dirty="0"/>
              <a:t>Return to the question…give an honest and evidence-based answer to the question using the results</a:t>
            </a:r>
          </a:p>
          <a:p>
            <a:pPr lvl="1"/>
            <a:r>
              <a:rPr lang="en-GB" dirty="0"/>
              <a:t>It doesn't matter whether the question is answered "positively", give a clear and nuanced view of what your results say about the question</a:t>
            </a:r>
          </a:p>
          <a:p>
            <a:r>
              <a:rPr lang="en-GB" dirty="0"/>
              <a:t>Try to come to some conclusion…even if that conclusion is that more work is needed to clarify some of the points that have arisen in the work</a:t>
            </a:r>
          </a:p>
          <a:p>
            <a:r>
              <a:rPr lang="en-GB" dirty="0"/>
              <a:t>…regardless, you should include some brief ideas for next steps…if you had had a few more weeks, what would you have done?</a:t>
            </a:r>
          </a:p>
        </p:txBody>
      </p:sp>
    </p:spTree>
    <p:extLst>
      <p:ext uri="{BB962C8B-B14F-4D97-AF65-F5344CB8AC3E}">
        <p14:creationId xmlns:p14="http://schemas.microsoft.com/office/powerpoint/2010/main" val="75494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CB751-351D-7D37-3F7B-A491BF55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not to do a good report/video/podcast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7C1AA-C898-3958-6CA4-5A2D945CCD7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Disorganisation—skipping from topic-to-topic in an arbitrary way</a:t>
            </a:r>
          </a:p>
          <a:p>
            <a:r>
              <a:rPr lang="en-GB" dirty="0"/>
              <a:t>Not justifying what you have done</a:t>
            </a:r>
          </a:p>
          <a:p>
            <a:r>
              <a:rPr lang="en-GB" dirty="0"/>
              <a:t>Not giving credit to the work that you have built on</a:t>
            </a:r>
          </a:p>
          <a:p>
            <a:pPr lvl="1"/>
            <a:r>
              <a:rPr lang="en-GB" dirty="0"/>
              <a:t>…at worst, this spills over into plagiarism</a:t>
            </a:r>
          </a:p>
          <a:p>
            <a:r>
              <a:rPr lang="en-GB" dirty="0"/>
              <a:t>Just focusing on the coding, not on the question(s), experiments and context</a:t>
            </a:r>
          </a:p>
          <a:p>
            <a:r>
              <a:rPr lang="en-GB" dirty="0"/>
              <a:t>Not coming to some conclusion at the end</a:t>
            </a:r>
          </a:p>
        </p:txBody>
      </p:sp>
    </p:spTree>
    <p:extLst>
      <p:ext uri="{BB962C8B-B14F-4D97-AF65-F5344CB8AC3E}">
        <p14:creationId xmlns:p14="http://schemas.microsoft.com/office/powerpoint/2010/main" val="45783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5600-C4AF-CB5A-BE81-AA79F2985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57BF0-D9C1-6F1F-C6AD-1D2EF400D31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Make sure that you explain why, not just say what</a:t>
            </a:r>
          </a:p>
          <a:p>
            <a:r>
              <a:rPr lang="en-GB" dirty="0"/>
              <a:t>Remain focused on the question(s) that you are asking in your project</a:t>
            </a:r>
          </a:p>
        </p:txBody>
      </p:sp>
    </p:spTree>
    <p:extLst>
      <p:ext uri="{BB962C8B-B14F-4D97-AF65-F5344CB8AC3E}">
        <p14:creationId xmlns:p14="http://schemas.microsoft.com/office/powerpoint/2010/main" val="121849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99887-32F7-B344-B132-C13E4F16B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Presentation (COMP4105 only)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3391A-F830-A74A-8E2C-8A9645DD5D4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10258928" cy="5476716"/>
          </a:xfrm>
        </p:spPr>
        <p:txBody>
          <a:bodyPr>
            <a:normAutofit fontScale="92500"/>
          </a:bodyPr>
          <a:lstStyle/>
          <a:p>
            <a:r>
              <a:rPr lang="en-GB" dirty="0"/>
              <a:t>A short presentation—10 minutes</a:t>
            </a:r>
          </a:p>
          <a:p>
            <a:pPr lvl="1"/>
            <a:r>
              <a:rPr lang="en-GB" dirty="0"/>
              <a:t>yes, really, 10 minutes is short</a:t>
            </a:r>
          </a:p>
          <a:p>
            <a:r>
              <a:rPr lang="en-GB" dirty="0"/>
              <a:t>Suggested structure</a:t>
            </a:r>
          </a:p>
          <a:p>
            <a:pPr lvl="1"/>
            <a:r>
              <a:rPr lang="en-GB" dirty="0"/>
              <a:t>Intro to the environment and agents (1-2 slides)</a:t>
            </a:r>
          </a:p>
          <a:p>
            <a:pPr lvl="1"/>
            <a:r>
              <a:rPr lang="en-GB" dirty="0"/>
              <a:t>Question you are asking (1 slide)</a:t>
            </a:r>
          </a:p>
          <a:p>
            <a:pPr lvl="1"/>
            <a:r>
              <a:rPr lang="en-GB" dirty="0"/>
              <a:t>Background—papers you have read and why they are relevant (1 slide)</a:t>
            </a:r>
          </a:p>
          <a:p>
            <a:pPr lvl="1"/>
            <a:r>
              <a:rPr lang="en-GB" dirty="0"/>
              <a:t>What have you implemented (1 slide)</a:t>
            </a:r>
          </a:p>
          <a:p>
            <a:pPr lvl="1"/>
            <a:r>
              <a:rPr lang="en-GB" dirty="0"/>
              <a:t>What experiments have you done (1 slide)</a:t>
            </a:r>
          </a:p>
          <a:p>
            <a:pPr lvl="1"/>
            <a:r>
              <a:rPr lang="en-GB" dirty="0"/>
              <a:t>What are the results (1 slide)</a:t>
            </a:r>
          </a:p>
          <a:p>
            <a:pPr lvl="1"/>
            <a:r>
              <a:rPr lang="en-GB" dirty="0"/>
              <a:t>What can be concluded from those results (1 slide)</a:t>
            </a:r>
          </a:p>
          <a:p>
            <a:pPr lvl="1"/>
            <a:r>
              <a:rPr lang="en-GB" dirty="0"/>
              <a:t>(perhaps) wider implications and what questions do this lead onto (1 slide)</a:t>
            </a:r>
          </a:p>
          <a:p>
            <a:r>
              <a:rPr lang="en-GB" dirty="0"/>
              <a:t>Presentation sign-up will shortly be available on Moodle</a:t>
            </a:r>
          </a:p>
          <a:p>
            <a:pPr lvl="1"/>
            <a:r>
              <a:rPr lang="en-GB" dirty="0"/>
              <a:t>presentation slots will be available from 14</a:t>
            </a:r>
            <a:r>
              <a:rPr lang="en-GB" baseline="30000" dirty="0"/>
              <a:t>th</a:t>
            </a:r>
            <a:r>
              <a:rPr lang="en-GB" dirty="0"/>
              <a:t> </a:t>
            </a:r>
            <a:r>
              <a:rPr lang="en-GB"/>
              <a:t>May onwards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098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650B-636B-A44F-A118-2DB3FBF74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the Coursework will be Assessed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F3CE8-1C02-4F4C-92C5-7ACC67533DB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GB" dirty="0"/>
              <a:t>background research and how you have used it to contextualise your work</a:t>
            </a:r>
          </a:p>
          <a:p>
            <a:pPr lvl="0"/>
            <a:r>
              <a:rPr lang="en-GB" dirty="0"/>
              <a:t>the choice of task environment and how you have used it/adapted it for your specific project</a:t>
            </a:r>
          </a:p>
          <a:p>
            <a:pPr lvl="0"/>
            <a:r>
              <a:rPr lang="en-GB" dirty="0"/>
              <a:t>the effective use of artificial intelligence and agent-based systems ideas from the course and your wider studies in designing your autonomous agents</a:t>
            </a:r>
          </a:p>
          <a:p>
            <a:pPr lvl="0"/>
            <a:r>
              <a:rPr lang="en-GB" dirty="0"/>
              <a:t>how clear your question(s) are, how well the experiments have been designed to answer them, and your level of rigour in planning and analysing the experiments</a:t>
            </a:r>
          </a:p>
          <a:p>
            <a:pPr lvl="0"/>
            <a:r>
              <a:rPr lang="en-GB" dirty="0"/>
              <a:t>how well the report answers the question by using the evidence from the experiments</a:t>
            </a:r>
          </a:p>
          <a:p>
            <a:pPr lvl="0"/>
            <a:r>
              <a:rPr lang="en-GB" dirty="0"/>
              <a:t>the overall clarity and structure of the report, appropriate use of scientific and technical English, and the quality of charts, diagrams, pseudocode where relevant</a:t>
            </a:r>
          </a:p>
          <a:p>
            <a:pPr lvl="0"/>
            <a:r>
              <a:rPr lang="en-GB" dirty="0"/>
              <a:t>the quality of reflection on the successes and limitations of the work</a:t>
            </a:r>
          </a:p>
          <a:p>
            <a:pPr lvl="0"/>
            <a:r>
              <a:rPr lang="en-GB" dirty="0"/>
              <a:t>(for students doing a presentation) the structure of the presentation, the clarity of explanations, and good use of slides or other visual aids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5268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7391BA-CE6F-43FA-71D4-A4F4EBADBE96}"/>
              </a:ext>
            </a:extLst>
          </p:cNvPr>
          <p:cNvSpPr txBox="1"/>
          <p:nvPr/>
        </p:nvSpPr>
        <p:spPr>
          <a:xfrm>
            <a:off x="3107802" y="2875002"/>
            <a:ext cx="59763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+mj-lt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234299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Notts">
      <a:dk1>
        <a:sysClr val="windowText" lastClr="000000"/>
      </a:dk1>
      <a:lt1>
        <a:sysClr val="window" lastClr="FFFFFF"/>
      </a:lt1>
      <a:dk2>
        <a:srgbClr val="007DA8"/>
      </a:dk2>
      <a:lt2>
        <a:srgbClr val="009BBD"/>
      </a:lt2>
      <a:accent1>
        <a:srgbClr val="005697"/>
      </a:accent1>
      <a:accent2>
        <a:srgbClr val="1B2A6B"/>
      </a:accent2>
      <a:accent3>
        <a:srgbClr val="191A4F"/>
      </a:accent3>
      <a:accent4>
        <a:srgbClr val="B32C76"/>
      </a:accent4>
      <a:accent5>
        <a:srgbClr val="D27826"/>
      </a:accent5>
      <a:accent6>
        <a:srgbClr val="38A159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70000">
              <a:srgbClr val="00487E">
                <a:lumMod val="85000"/>
                <a:lumOff val="15000"/>
              </a:srgbClr>
            </a:gs>
            <a:gs pos="17000">
              <a:schemeClr val="accent1"/>
            </a:gs>
            <a:gs pos="100000">
              <a:schemeClr val="accent1">
                <a:lumMod val="75000"/>
              </a:schemeClr>
            </a:gs>
          </a:gsLst>
          <a:lin ang="0" scaled="1"/>
          <a:tileRect/>
        </a:gradFill>
        <a:ln>
          <a:noFill/>
        </a:ln>
      </a:spPr>
      <a:bodyPr rtlCol="0" anchor="ctr"/>
      <a:lstStyle>
        <a:defPPr algn="ctr">
          <a:defRPr sz="2400" b="1" dirty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400" dirty="0" err="1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A3D2834E-CE8D-084F-AB9E-7479A63A9E3F}" vid="{F55BD544-069E-7D46-8448-AE90783330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2740</TotalTime>
  <Words>1936</Words>
  <Application>Microsoft Macintosh PowerPoint</Application>
  <PresentationFormat>Widescreen</PresentationFormat>
  <Paragraphs>171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Designing Intelligent Agents: Coursework Advice</vt:lpstr>
      <vt:lpstr>Two Versions of the Coursework depending on Module</vt:lpstr>
      <vt:lpstr>Coursework: Four Main Components</vt:lpstr>
      <vt:lpstr>Autonomous Intelligent Agent</vt:lpstr>
      <vt:lpstr>…to Answer a Scientific or Technical Question</vt:lpstr>
      <vt:lpstr>…in an Environment</vt:lpstr>
      <vt:lpstr>…and which Analyses that Question Rigorously using Experiments</vt:lpstr>
      <vt:lpstr>Contents of your Report/Video/Podcast</vt:lpstr>
      <vt:lpstr>Review and Context</vt:lpstr>
      <vt:lpstr>In what way can some work be relevant?</vt:lpstr>
      <vt:lpstr>Design and Implementation</vt:lpstr>
      <vt:lpstr>"Added Value"</vt:lpstr>
      <vt:lpstr>Evaluation</vt:lpstr>
      <vt:lpstr>Experiments</vt:lpstr>
      <vt:lpstr>Results</vt:lpstr>
      <vt:lpstr>Discussion and Conclusion</vt:lpstr>
      <vt:lpstr>How not to do a good report/video/podcast</vt:lpstr>
      <vt:lpstr>Key ideas</vt:lpstr>
      <vt:lpstr>Presentation (COMP4105 only)</vt:lpstr>
      <vt:lpstr>How the Coursework will be Assessed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Slide</dc:title>
  <dc:creator>Colin Johnson</dc:creator>
  <cp:lastModifiedBy>Colin Johnson (staff)</cp:lastModifiedBy>
  <cp:revision>118</cp:revision>
  <dcterms:created xsi:type="dcterms:W3CDTF">2020-09-20T18:59:32Z</dcterms:created>
  <dcterms:modified xsi:type="dcterms:W3CDTF">2026-04-30T08:37:18Z</dcterms:modified>
</cp:coreProperties>
</file>