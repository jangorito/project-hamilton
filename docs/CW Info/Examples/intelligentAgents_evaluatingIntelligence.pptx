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89" r:id="rId2"/>
    <p:sldId id="290" r:id="rId3"/>
    <p:sldId id="300" r:id="rId4"/>
    <p:sldId id="306" r:id="rId5"/>
    <p:sldId id="304" r:id="rId6"/>
    <p:sldId id="305" r:id="rId7"/>
    <p:sldId id="301" r:id="rId8"/>
    <p:sldId id="303" r:id="rId9"/>
    <p:sldId id="292" r:id="rId10"/>
    <p:sldId id="307" r:id="rId11"/>
    <p:sldId id="308" r:id="rId12"/>
    <p:sldId id="309" r:id="rId13"/>
    <p:sldId id="31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0B4A74C-F69A-40BF-868C-AE17408811A6}">
          <p14:sldIdLst>
            <p14:sldId id="289"/>
            <p14:sldId id="290"/>
            <p14:sldId id="300"/>
            <p14:sldId id="306"/>
            <p14:sldId id="304"/>
            <p14:sldId id="305"/>
            <p14:sldId id="301"/>
            <p14:sldId id="303"/>
            <p14:sldId id="292"/>
            <p14:sldId id="307"/>
            <p14:sldId id="308"/>
            <p14:sldId id="309"/>
            <p14:sldId id="31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ara De Cozar" initials="TDC" lastIdx="3" clrIdx="0">
    <p:extLst>
      <p:ext uri="{19B8F6BF-5375-455C-9EA6-DF929625EA0E}">
        <p15:presenceInfo xmlns:p15="http://schemas.microsoft.com/office/powerpoint/2012/main" userId="S-1-5-21-1664130791-3153540899-3044996548-7165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A159"/>
    <a:srgbClr val="112C0B"/>
    <a:srgbClr val="B92121"/>
    <a:srgbClr val="D92A2B"/>
    <a:srgbClr val="004648"/>
    <a:srgbClr val="005E60"/>
    <a:srgbClr val="00766E"/>
    <a:srgbClr val="009186"/>
    <a:srgbClr val="009BBD"/>
    <a:srgbClr val="5540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831" autoAdjust="0"/>
    <p:restoredTop sz="86164" autoAdjust="0"/>
  </p:normalViewPr>
  <p:slideViewPr>
    <p:cSldViewPr snapToGrid="0" snapToObjects="1">
      <p:cViewPr varScale="1">
        <p:scale>
          <a:sx n="109" d="100"/>
          <a:sy n="109" d="100"/>
        </p:scale>
        <p:origin x="568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napToObjects="1" showGuides="1">
      <p:cViewPr varScale="1">
        <p:scale>
          <a:sx n="98" d="100"/>
          <a:sy n="98" d="100"/>
        </p:scale>
        <p:origin x="-3648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8732D1-0119-4424-ADB1-6A88624C9257}" type="datetimeFigureOut">
              <a:rPr lang="en-GB" smtClean="0"/>
              <a:t>30/04/2026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F026BA-B8A7-4B5A-A3B0-0B7D31088B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41972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654FE6-3F31-4904-9137-AFF662B7D702}" type="datetimeFigureOut">
              <a:rPr lang="en-GB" smtClean="0"/>
              <a:t>30/04/2026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B9E1F4-77C1-461E-ABFF-BFE7DD57AF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1753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B9E1F4-77C1-461E-ABFF-BFE7DD57AFD2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9383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 flipH="1">
            <a:off x="0" y="-1"/>
            <a:ext cx="12192000" cy="6858001"/>
          </a:xfrm>
          <a:prstGeom prst="rect">
            <a:avLst/>
          </a:prstGeom>
          <a:blipFill>
            <a:blip r:embed="rId2"/>
            <a:srcRect/>
            <a:stretch>
              <a:fillRect t="-45" b="-45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 userDrawn="1"/>
        </p:nvSpPr>
        <p:spPr>
          <a:xfrm>
            <a:off x="0" y="-2"/>
            <a:ext cx="12192000" cy="6858001"/>
          </a:xfrm>
          <a:prstGeom prst="rect">
            <a:avLst/>
          </a:prstGeom>
          <a:gradFill flip="none" rotWithShape="1">
            <a:gsLst>
              <a:gs pos="50000">
                <a:srgbClr val="0E6394">
                  <a:alpha val="45000"/>
                </a:srgbClr>
              </a:gs>
              <a:gs pos="17000">
                <a:schemeClr val="tx2">
                  <a:alpha val="45000"/>
                </a:schemeClr>
              </a:gs>
              <a:gs pos="100000">
                <a:schemeClr val="accent2">
                  <a:alpha val="4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16300" y="1742900"/>
            <a:ext cx="5359400" cy="2387600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416398" y="4161275"/>
            <a:ext cx="5359206" cy="10797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800" b="1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Insert Text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793878" cy="1030941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3396000" y="729000"/>
            <a:ext cx="5400000" cy="540000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sz="2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89495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oint Cli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 flipH="1">
            <a:off x="0" y="-1"/>
            <a:ext cx="12192000" cy="6858001"/>
          </a:xfrm>
          <a:prstGeom prst="rect">
            <a:avLst/>
          </a:prstGeom>
          <a:blipFill>
            <a:blip r:embed="rId2"/>
            <a:srcRect/>
            <a:stretch>
              <a:fillRect t="-45" b="-45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50000">
                <a:srgbClr val="0E6394">
                  <a:alpha val="45000"/>
                </a:srgbClr>
              </a:gs>
              <a:gs pos="17000">
                <a:schemeClr val="tx2">
                  <a:alpha val="45000"/>
                </a:schemeClr>
              </a:gs>
              <a:gs pos="100000">
                <a:schemeClr val="accent2">
                  <a:alpha val="4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96000" y="1742900"/>
            <a:ext cx="5400000" cy="2387600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396099" y="4161275"/>
            <a:ext cx="5399803" cy="10797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800" b="1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Insert Text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793878" cy="1030941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3396000" y="729000"/>
            <a:ext cx="5400000" cy="540000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sz="2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58538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7000">
                <a:schemeClr val="accent4"/>
              </a:gs>
              <a:gs pos="7000">
                <a:schemeClr val="accent4"/>
              </a:gs>
              <a:gs pos="63000">
                <a:schemeClr val="accent2"/>
              </a:gs>
              <a:gs pos="100000">
                <a:schemeClr val="accent3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 userDrawn="1"/>
        </p:nvSpPr>
        <p:spPr>
          <a:xfrm flipH="1">
            <a:off x="0" y="0"/>
            <a:ext cx="12190412" cy="6858000"/>
          </a:xfrm>
          <a:prstGeom prst="rect">
            <a:avLst/>
          </a:prstGeom>
          <a:blipFill dpi="0" rotWithShape="1">
            <a:blip r:embed="rId2">
              <a:alphaModFix amt="40000"/>
            </a:blip>
            <a:srcRect/>
            <a:stretch>
              <a:fillRect l="-20940" t="-1372" b="-22885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 b="1" dirty="0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71876" y="2409650"/>
            <a:ext cx="7262923" cy="2387600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defRPr sz="80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209550" y="5562600"/>
            <a:ext cx="11525096" cy="94779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>
              <a:buNone/>
              <a:defRPr sz="3600" b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Insert Text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793878" cy="1030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074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 flipH="1" flipV="1">
            <a:off x="2005010" y="-1"/>
            <a:ext cx="10185395" cy="896471"/>
          </a:xfrm>
          <a:prstGeom prst="rect">
            <a:avLst/>
          </a:prstGeom>
          <a:gradFill flip="none" rotWithShape="1">
            <a:gsLst>
              <a:gs pos="50000">
                <a:srgbClr val="0E6394"/>
              </a:gs>
              <a:gs pos="17000">
                <a:schemeClr val="bg2"/>
              </a:gs>
              <a:gs pos="100000">
                <a:schemeClr val="accent2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5012" y="98984"/>
            <a:ext cx="10185400" cy="698501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8412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7537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 flipH="1" flipV="1">
            <a:off x="2005010" y="-1"/>
            <a:ext cx="10185395" cy="896471"/>
          </a:xfrm>
          <a:prstGeom prst="rect">
            <a:avLst/>
          </a:prstGeom>
          <a:gradFill flip="none" rotWithShape="1">
            <a:gsLst>
              <a:gs pos="50000">
                <a:srgbClr val="0E6394"/>
              </a:gs>
              <a:gs pos="17000">
                <a:schemeClr val="bg2"/>
              </a:gs>
              <a:gs pos="100000">
                <a:schemeClr val="accent2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5012" y="98984"/>
            <a:ext cx="10185400" cy="698501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F0D9B-72AB-8F40-9E26-3180418DBFA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58838" y="1159611"/>
            <a:ext cx="10258928" cy="4772838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590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7537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ject with Anno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 flipH="1" flipV="1">
            <a:off x="2005010" y="-1"/>
            <a:ext cx="10185395" cy="896471"/>
          </a:xfrm>
          <a:prstGeom prst="rect">
            <a:avLst/>
          </a:prstGeom>
          <a:gradFill flip="none" rotWithShape="1">
            <a:gsLst>
              <a:gs pos="50000">
                <a:srgbClr val="0E6394"/>
              </a:gs>
              <a:gs pos="17000">
                <a:schemeClr val="bg2"/>
              </a:gs>
              <a:gs pos="100000">
                <a:schemeClr val="accent2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5012" y="98984"/>
            <a:ext cx="10185400" cy="698501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C548A2-FB12-2146-8076-97DCD386356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005010" y="1315456"/>
            <a:ext cx="8897937" cy="5029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112DC3E-6500-494A-9C7A-53946AA11C2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19362" y="6689529"/>
            <a:ext cx="6171043" cy="16847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8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14931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7537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ing TItl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 flipH="1" flipV="1">
            <a:off x="2005009" y="-2"/>
            <a:ext cx="10185395" cy="896472"/>
          </a:xfrm>
          <a:prstGeom prst="rect">
            <a:avLst/>
          </a:prstGeom>
          <a:gradFill flip="none" rotWithShape="1">
            <a:gsLst>
              <a:gs pos="50000">
                <a:srgbClr val="0E6394"/>
              </a:gs>
              <a:gs pos="17000">
                <a:schemeClr val="bg2"/>
              </a:gs>
              <a:gs pos="100000">
                <a:schemeClr val="accent2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5012" y="98984"/>
            <a:ext cx="10185400" cy="698501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30623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" grpId="0"/>
    </p:bldLst>
  </p:timing>
  <p:extLst>
    <p:ext uri="{DCECCB84-F9BA-43D5-87BE-67443E8EF086}">
      <p15:sldGuideLst xmlns:p15="http://schemas.microsoft.com/office/powerpoint/2012/main">
        <p15:guide id="2" pos="7" userDrawn="1">
          <p15:clr>
            <a:srgbClr val="FBAE40"/>
          </p15:clr>
        </p15:guide>
        <p15:guide id="3" pos="7537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Beacons of Excell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 flipH="1" flipV="1">
            <a:off x="0" y="-1"/>
            <a:ext cx="12192000" cy="6857999"/>
          </a:xfrm>
          <a:prstGeom prst="rect">
            <a:avLst/>
          </a:prstGeom>
          <a:gradFill flip="none" rotWithShape="1">
            <a:gsLst>
              <a:gs pos="50000">
                <a:srgbClr val="0E6394"/>
              </a:gs>
              <a:gs pos="17000">
                <a:srgbClr val="009BBD"/>
              </a:gs>
              <a:gs pos="100000">
                <a:srgbClr val="1B2A6B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4434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0" y="2592090"/>
            <a:ext cx="12192000" cy="4265910"/>
          </a:xfrm>
        </p:spPr>
        <p:txBody>
          <a:bodyPr/>
          <a:lstStyle/>
          <a:p>
            <a:endParaRPr lang="en-GB" dirty="0"/>
          </a:p>
        </p:txBody>
      </p:sp>
      <p:pic>
        <p:nvPicPr>
          <p:cNvPr id="5137" name="Picture 17" descr="Uok_Logo_PMS294_PC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243" y="299723"/>
            <a:ext cx="1343323" cy="54671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 userDrawn="1"/>
        </p:nvSpPr>
        <p:spPr>
          <a:xfrm>
            <a:off x="623392" y="299724"/>
            <a:ext cx="3744416" cy="2769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/>
            <a:r>
              <a:rPr lang="en-GB" sz="1200" dirty="0">
                <a:solidFill>
                  <a:srgbClr val="002060"/>
                </a:solidFill>
              </a:rPr>
              <a:t>The UK’s European university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623392" y="989117"/>
            <a:ext cx="5568619" cy="1512168"/>
          </a:xfrm>
          <a:solidFill>
            <a:schemeClr val="tx2">
              <a:lumMod val="75000"/>
            </a:schemeClr>
          </a:solidFill>
        </p:spPr>
        <p:txBody>
          <a:bodyPr lIns="252000" tIns="273600" rIns="252000"/>
          <a:lstStyle>
            <a:lvl1pPr marL="0" indent="0">
              <a:lnSpc>
                <a:spcPts val="2500"/>
              </a:lnSpc>
              <a:buNone/>
              <a:defRPr sz="2400" spc="-100" baseline="0">
                <a:solidFill>
                  <a:schemeClr val="bg1"/>
                </a:solidFill>
                <a:latin typeface="Century Schoolbook" pitchFamily="18" charset="0"/>
              </a:defRPr>
            </a:lvl1pPr>
          </a:lstStyle>
          <a:p>
            <a:pPr lvl="0"/>
            <a:r>
              <a:rPr lang="en-US" dirty="0"/>
              <a:t>TYPE YOUR HEADING HERE 2014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623393" y="2488937"/>
            <a:ext cx="5568619" cy="664498"/>
          </a:xfrm>
          <a:solidFill>
            <a:schemeClr val="tx2">
              <a:lumMod val="75000"/>
            </a:schemeClr>
          </a:solidFill>
        </p:spPr>
        <p:txBody>
          <a:bodyPr lIns="252000" tIns="0" rIns="252000" bIns="154800" anchor="ctr" anchorCtr="0"/>
          <a:lstStyle>
            <a:lvl1pPr marL="0" indent="0">
              <a:lnSpc>
                <a:spcPts val="1380"/>
              </a:lnSpc>
              <a:spcBef>
                <a:spcPts val="0"/>
              </a:spcBef>
              <a:buNone/>
              <a:defRPr sz="1400" i="1" spc="-50">
                <a:solidFill>
                  <a:srgbClr val="D6A300"/>
                </a:solidFill>
                <a:latin typeface="Century Schoolbook"/>
                <a:cs typeface="Century Schoolbook"/>
              </a:defRPr>
            </a:lvl1pPr>
          </a:lstStyle>
          <a:p>
            <a:pPr lvl="0"/>
            <a:r>
              <a:rPr lang="en-US" dirty="0"/>
              <a:t>Sub heading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8365067" y="1447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10671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1117600" y="6505576"/>
            <a:ext cx="8077200" cy="269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203200" y="6489700"/>
            <a:ext cx="897467" cy="26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Page </a:t>
            </a:r>
            <a:fld id="{BB9ACB3B-81A4-6247-87B5-FC3E0A04C89B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433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 flipH="1" flipV="1">
            <a:off x="-3" y="0"/>
            <a:ext cx="12190413" cy="896471"/>
          </a:xfrm>
          <a:prstGeom prst="rect">
            <a:avLst/>
          </a:prstGeom>
          <a:gradFill flip="none" rotWithShape="1">
            <a:gsLst>
              <a:gs pos="50000">
                <a:srgbClr val="0E6394"/>
              </a:gs>
              <a:gs pos="17000">
                <a:schemeClr val="bg2"/>
              </a:gs>
              <a:gs pos="100000">
                <a:schemeClr val="accent2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 userDrawn="1"/>
        </p:nvSpPr>
        <p:spPr>
          <a:xfrm>
            <a:off x="2002004" y="1"/>
            <a:ext cx="10194758" cy="89647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02004" y="98987"/>
            <a:ext cx="10189995" cy="6984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4E112F-1B58-4F80-8548-230F871317D2}" type="datetimeFigureOut">
              <a:rPr lang="en-GB" smtClean="0"/>
              <a:t>30/04/2026</a:t>
            </a:fld>
            <a:endParaRPr lang="en-GB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" y="0"/>
            <a:ext cx="1696455" cy="625991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72D6D5-F6C2-4C88-B07F-0F9DC0B2C389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>
            <a:cxnSpLocks/>
          </p:cNvCxnSpPr>
          <p:nvPr userDrawn="1"/>
        </p:nvCxnSpPr>
        <p:spPr>
          <a:xfrm>
            <a:off x="1997242" y="0"/>
            <a:ext cx="0" cy="89647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49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61" r:id="rId2"/>
    <p:sldLayoutId id="2147483662" r:id="rId3"/>
    <p:sldLayoutId id="2147483658" r:id="rId4"/>
    <p:sldLayoutId id="2147483663" r:id="rId5"/>
    <p:sldLayoutId id="2147483664" r:id="rId6"/>
    <p:sldLayoutId id="2147483650" r:id="rId7"/>
    <p:sldLayoutId id="2147483651" r:id="rId8"/>
    <p:sldLayoutId id="2147483665" r:id="rId9"/>
    <p:sldLayoutId id="2147483666" r:id="rId1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Designing Intelligent Agents: Evaluating Intelligence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416397" y="4948354"/>
            <a:ext cx="5359206" cy="1079795"/>
          </a:xfrm>
        </p:spPr>
        <p:txBody>
          <a:bodyPr/>
          <a:lstStyle/>
          <a:p>
            <a:r>
              <a:rPr lang="en-GB" dirty="0"/>
              <a:t>Colin Johnson</a:t>
            </a:r>
          </a:p>
        </p:txBody>
      </p:sp>
    </p:spTree>
    <p:extLst>
      <p:ext uri="{BB962C8B-B14F-4D97-AF65-F5344CB8AC3E}">
        <p14:creationId xmlns:p14="http://schemas.microsoft.com/office/powerpoint/2010/main" val="2854651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D59F434-9506-C541-8909-0D5DEFFCF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Artificial (General) Intelligence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DF25C0-E5EA-FF41-8491-3B4E788B060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58838" y="1159610"/>
            <a:ext cx="10638218" cy="5599405"/>
          </a:xfrm>
        </p:spPr>
        <p:txBody>
          <a:bodyPr>
            <a:normAutofit lnSpcReduction="10000"/>
          </a:bodyPr>
          <a:lstStyle/>
          <a:p>
            <a:r>
              <a:rPr lang="en-GB" dirty="0"/>
              <a:t>Artificial Intelligence:</a:t>
            </a:r>
          </a:p>
          <a:p>
            <a:pPr lvl="1"/>
            <a:r>
              <a:rPr lang="en-GB" i="1" dirty="0"/>
              <a:t>“The capacity of computers or other machines to exhibit or simulate intelligent behaviour; the field of study concerned with this.” </a:t>
            </a:r>
            <a:r>
              <a:rPr lang="en-GB" dirty="0"/>
              <a:t>(OED)</a:t>
            </a:r>
            <a:endParaRPr lang="en-GB" i="1" dirty="0"/>
          </a:p>
          <a:p>
            <a:pPr lvl="1"/>
            <a:r>
              <a:rPr lang="en-GB" i="1" dirty="0"/>
              <a:t>“the theory and development of computer systems able to perform tasks normally requiring human intelligence, such as visual perception, speech recognition, decision-making, and translation between languages” </a:t>
            </a:r>
            <a:r>
              <a:rPr lang="en-GB" dirty="0"/>
              <a:t>(Oxford Living Dictionary)</a:t>
            </a:r>
            <a:endParaRPr lang="en-GB" i="1" dirty="0"/>
          </a:p>
          <a:p>
            <a:r>
              <a:rPr lang="en-GB" dirty="0"/>
              <a:t>Artificial General Intelligence</a:t>
            </a:r>
          </a:p>
          <a:p>
            <a:pPr lvl="1"/>
            <a:r>
              <a:rPr lang="en-GB" i="1" dirty="0"/>
              <a:t>“Artificial General Intelligence (AGI) would be a machine capable of understanding the world as well as any human, and with the same capacity to learn how to carry out a huge range of tasks.” </a:t>
            </a:r>
            <a:r>
              <a:rPr lang="en-GB" dirty="0"/>
              <a:t>(Nick Heath)</a:t>
            </a:r>
            <a:endParaRPr lang="en-GB" i="1" dirty="0"/>
          </a:p>
          <a:p>
            <a:pPr lvl="1"/>
            <a:r>
              <a:rPr lang="en-GB" dirty="0"/>
              <a:t>Some problems are </a:t>
            </a:r>
            <a:r>
              <a:rPr lang="en-GB" i="1" dirty="0"/>
              <a:t>AI-hard</a:t>
            </a:r>
            <a:r>
              <a:rPr lang="en-GB" dirty="0"/>
              <a:t> aka </a:t>
            </a:r>
            <a:r>
              <a:rPr lang="en-GB" i="1" dirty="0"/>
              <a:t>AI-complete</a:t>
            </a:r>
            <a:r>
              <a:rPr lang="en-GB" dirty="0"/>
              <a:t>, meaning that there is no way to solve those individual problems in isolation without building a full AGI system.</a:t>
            </a:r>
          </a:p>
          <a:p>
            <a:pPr lvl="2"/>
            <a:r>
              <a:rPr lang="en-GB" dirty="0"/>
              <a:t>Clearly a pun on complexity classes—but, doesn’t have a formal definition unlike </a:t>
            </a:r>
            <a:r>
              <a:rPr lang="en-GB" i="1" dirty="0"/>
              <a:t>NP-hard</a:t>
            </a:r>
            <a:r>
              <a:rPr lang="en-GB" dirty="0"/>
              <a:t> etc.</a:t>
            </a:r>
          </a:p>
          <a:p>
            <a:pPr lvl="1"/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36E4B4-0176-2A43-A98F-4F8566364008}"/>
              </a:ext>
            </a:extLst>
          </p:cNvPr>
          <p:cNvSpPr txBox="1"/>
          <p:nvPr/>
        </p:nvSpPr>
        <p:spPr>
          <a:xfrm>
            <a:off x="8972865" y="6642556"/>
            <a:ext cx="321754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8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https://</a:t>
            </a:r>
            <a:r>
              <a:rPr lang="en-GB" sz="800" dirty="0" err="1">
                <a:solidFill>
                  <a:schemeClr val="bg1">
                    <a:lumMod val="85000"/>
                  </a:schemeClr>
                </a:solidFill>
                <a:latin typeface="+mj-lt"/>
              </a:rPr>
              <a:t>www.zdnet.com</a:t>
            </a:r>
            <a:r>
              <a:rPr lang="en-GB" sz="8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/article/what-is-artificial-general-intelligence/</a:t>
            </a:r>
          </a:p>
        </p:txBody>
      </p:sp>
    </p:spTree>
    <p:extLst>
      <p:ext uri="{BB962C8B-B14F-4D97-AF65-F5344CB8AC3E}">
        <p14:creationId xmlns:p14="http://schemas.microsoft.com/office/powerpoint/2010/main" val="2453902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B1869-BA35-A741-8FD3-4F1C6B234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Evaluating Intelligence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0901E-CBE0-8543-8A09-4BEE041C25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58837" y="1159611"/>
            <a:ext cx="10629777" cy="4772838"/>
          </a:xfrm>
        </p:spPr>
        <p:txBody>
          <a:bodyPr/>
          <a:lstStyle/>
          <a:p>
            <a:r>
              <a:rPr lang="en-GB" dirty="0"/>
              <a:t>How do we evaluate (artificial) intelligence?</a:t>
            </a:r>
          </a:p>
          <a:p>
            <a:r>
              <a:rPr lang="en-GB" dirty="0"/>
              <a:t>Evaluating </a:t>
            </a:r>
            <a:r>
              <a:rPr lang="en-GB" i="1" dirty="0"/>
              <a:t>human</a:t>
            </a:r>
            <a:r>
              <a:rPr lang="en-GB" dirty="0"/>
              <a:t> intelligence is difficult, fraught and has political/cultural dimensions</a:t>
            </a:r>
          </a:p>
          <a:p>
            <a:pPr lvl="1"/>
            <a:r>
              <a:rPr lang="en-GB" dirty="0"/>
              <a:t>What counts as “intelligent” behaviour?</a:t>
            </a:r>
          </a:p>
          <a:p>
            <a:pPr lvl="1"/>
            <a:r>
              <a:rPr lang="en-GB" dirty="0"/>
              <a:t>Is there a single thing that counts as intelligence?</a:t>
            </a:r>
          </a:p>
          <a:p>
            <a:pPr lvl="2"/>
            <a:r>
              <a:rPr lang="en-GB" dirty="0"/>
              <a:t>What about analytical/linguistic/mathematical/cultural/emotional/spiritual/creative intelligence? Are these all aspects of “intelligence” or are they attempts to shoehorn lots of other human characteristics into “intelligence”?</a:t>
            </a:r>
          </a:p>
          <a:p>
            <a:pPr lvl="1"/>
            <a:r>
              <a:rPr lang="en-GB" dirty="0"/>
              <a:t>How can we make evaluations of intelligence less culturally biased? Can a culture-free intelligence test be devised at all</a:t>
            </a:r>
          </a:p>
        </p:txBody>
      </p:sp>
    </p:spTree>
    <p:extLst>
      <p:ext uri="{BB962C8B-B14F-4D97-AF65-F5344CB8AC3E}">
        <p14:creationId xmlns:p14="http://schemas.microsoft.com/office/powerpoint/2010/main" val="1679965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35019-4F4D-0A4A-99E6-DB1A9BFA0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Evaluating Intelligence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A5816-9BCC-3840-89E3-288842AEDB2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58838" y="1159610"/>
            <a:ext cx="10258928" cy="5475651"/>
          </a:xfrm>
        </p:spPr>
        <p:txBody>
          <a:bodyPr>
            <a:normAutofit fontScale="85000" lnSpcReduction="10000"/>
          </a:bodyPr>
          <a:lstStyle/>
          <a:p>
            <a:r>
              <a:rPr lang="en-GB" dirty="0"/>
              <a:t>In AI, we don’t typically ask the question of “how intelligent is a system”</a:t>
            </a:r>
          </a:p>
          <a:p>
            <a:r>
              <a:rPr lang="en-GB" dirty="0"/>
              <a:t>…largely because, contrasted with the public image, we don’t really try to build “an AI”, but we write task-specific programs</a:t>
            </a:r>
          </a:p>
          <a:p>
            <a:pPr lvl="1"/>
            <a:r>
              <a:rPr lang="en-GB" dirty="0"/>
              <a:t>…and therefore, the measure of the performance is the performance on that task</a:t>
            </a:r>
          </a:p>
          <a:p>
            <a:pPr lvl="1"/>
            <a:r>
              <a:rPr lang="en-GB" dirty="0"/>
              <a:t>usually, the system is trained from scratch on that task rather than in context of wider learning</a:t>
            </a:r>
          </a:p>
          <a:p>
            <a:r>
              <a:rPr lang="en-GB" dirty="0"/>
              <a:t>…though this is shifting with systems such as LLMs that attempt to learn from a vast corpus of knowledge.</a:t>
            </a:r>
          </a:p>
          <a:p>
            <a:r>
              <a:rPr lang="en-GB" dirty="0"/>
              <a:t>More recently, there has been more focus on </a:t>
            </a:r>
            <a:r>
              <a:rPr lang="en-GB" i="1" dirty="0"/>
              <a:t>transfer learning</a:t>
            </a:r>
            <a:r>
              <a:rPr lang="en-GB" dirty="0"/>
              <a:t>, that is, taking a system that has been trained on one task, and seeing if that learning can “transfer” elsewhere.</a:t>
            </a:r>
          </a:p>
          <a:p>
            <a:pPr lvl="1"/>
            <a:r>
              <a:rPr lang="en-GB" dirty="0"/>
              <a:t>a canonical example is work in computer vision (e.g. inception, VGG-16, Xception)</a:t>
            </a:r>
          </a:p>
          <a:p>
            <a:pPr lvl="1"/>
            <a:r>
              <a:rPr lang="en-GB" dirty="0"/>
              <a:t>the idea here is to take a vision system trained on a wide variety of images, and transfer that “general knowledge” about how to classify and interpret visual scenes and apply it to a specific task</a:t>
            </a:r>
          </a:p>
          <a:p>
            <a:pPr lvl="1"/>
            <a:r>
              <a:rPr lang="en-GB" dirty="0"/>
              <a:t>the measure now is “how well does that system work with the input of knowledge from the transferred system, against learning from scratch”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9925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5CFC6-83FF-2F41-9086-1AA74CA0D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Evaluating Task Performance (Objective Measures)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F9899-CE18-1241-B3AC-EBB46044F87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6469" y="1002020"/>
            <a:ext cx="4694115" cy="1670841"/>
          </a:xfrm>
        </p:spPr>
        <p:txBody>
          <a:bodyPr/>
          <a:lstStyle/>
          <a:p>
            <a:r>
              <a:rPr lang="en-GB" dirty="0"/>
              <a:t>Typically one or more </a:t>
            </a:r>
            <a:br>
              <a:rPr lang="en-GB" dirty="0"/>
            </a:br>
            <a:r>
              <a:rPr lang="en-GB" dirty="0"/>
              <a:t>numerical measures, e.g.:</a:t>
            </a:r>
          </a:p>
          <a:p>
            <a:pPr lvl="1"/>
            <a:r>
              <a:rPr lang="en-GB" dirty="0"/>
              <a:t>accuracy</a:t>
            </a:r>
          </a:p>
          <a:p>
            <a:pPr lvl="1"/>
            <a:r>
              <a:rPr lang="en-GB" dirty="0"/>
              <a:t>speed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7AFC8B-6811-3743-8BD6-20F5663D5D85}"/>
              </a:ext>
            </a:extLst>
          </p:cNvPr>
          <p:cNvSpPr txBox="1"/>
          <p:nvPr/>
        </p:nvSpPr>
        <p:spPr>
          <a:xfrm>
            <a:off x="220548" y="3259013"/>
            <a:ext cx="57677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+mj-lt"/>
              </a:rPr>
              <a:t>Comparison of difference conditions by mean and standard deviation: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8EC06F-E4AA-B741-B310-5D67E9411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48" y="3905344"/>
            <a:ext cx="5767754" cy="22486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1FEBD2-4CCA-5840-AFD5-BA3D14859B94}"/>
              </a:ext>
            </a:extLst>
          </p:cNvPr>
          <p:cNvSpPr txBox="1"/>
          <p:nvPr/>
        </p:nvSpPr>
        <p:spPr>
          <a:xfrm>
            <a:off x="6387489" y="6396335"/>
            <a:ext cx="58029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https://machinelearningmastery.com/parametric-statistical-significance-tests-in-python/</a:t>
            </a:r>
          </a:p>
          <a:p>
            <a:pPr algn="r"/>
            <a:r>
              <a:rPr lang="en-GB" sz="8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https://journals.plos.org/plosone/article?id=10.1371/journal.pone.0078205</a:t>
            </a:r>
          </a:p>
          <a:p>
            <a:pPr algn="r"/>
            <a:r>
              <a:rPr lang="en-GB" sz="8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https://</a:t>
            </a:r>
            <a:r>
              <a:rPr lang="en-GB" sz="800" dirty="0" err="1">
                <a:solidFill>
                  <a:schemeClr val="bg1">
                    <a:lumMod val="85000"/>
                  </a:schemeClr>
                </a:solidFill>
                <a:latin typeface="+mj-lt"/>
              </a:rPr>
              <a:t>www.biologyforlife.com</a:t>
            </a:r>
            <a:r>
              <a:rPr lang="en-GB" sz="8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/interpreting-error-</a:t>
            </a:r>
            <a:r>
              <a:rPr lang="en-GB" sz="800" dirty="0" err="1">
                <a:solidFill>
                  <a:schemeClr val="bg1">
                    <a:lumMod val="85000"/>
                  </a:schemeClr>
                </a:solidFill>
                <a:latin typeface="+mj-lt"/>
              </a:rPr>
              <a:t>bars.htmla</a:t>
            </a:r>
            <a:endParaRPr lang="en-GB" sz="800" dirty="0">
              <a:solidFill>
                <a:schemeClr val="bg1">
                  <a:lumMod val="85000"/>
                </a:schemeClr>
              </a:solidFill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40C32D-F54E-2D46-817E-186FA64C24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4752" y="1342037"/>
            <a:ext cx="3469238" cy="25913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235965-670E-7C49-ACD4-551E52C2E4F4}"/>
              </a:ext>
            </a:extLst>
          </p:cNvPr>
          <p:cNvSpPr txBox="1"/>
          <p:nvPr/>
        </p:nvSpPr>
        <p:spPr>
          <a:xfrm>
            <a:off x="6164752" y="932088"/>
            <a:ext cx="4026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+mj-lt"/>
              </a:rPr>
              <a:t>bar chart with error bars of one </a:t>
            </a:r>
            <a:r>
              <a:rPr lang="en-GB" dirty="0" err="1">
                <a:latin typeface="+mj-lt"/>
              </a:rPr>
              <a:t>s.d.</a:t>
            </a:r>
            <a:endParaRPr lang="en-GB" dirty="0"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737F94-102A-1143-A3AA-18F2CF7FB9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981" y="4563736"/>
            <a:ext cx="5029200" cy="17272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4083363-15EB-B049-B286-75514B26D566}"/>
              </a:ext>
            </a:extLst>
          </p:cNvPr>
          <p:cNvSpPr txBox="1"/>
          <p:nvPr/>
        </p:nvSpPr>
        <p:spPr>
          <a:xfrm>
            <a:off x="7104981" y="4194404"/>
            <a:ext cx="4026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+mj-lt"/>
              </a:rPr>
              <a:t>t-test to compare means</a:t>
            </a:r>
          </a:p>
        </p:txBody>
      </p:sp>
    </p:spTree>
    <p:extLst>
      <p:ext uri="{BB962C8B-B14F-4D97-AF65-F5344CB8AC3E}">
        <p14:creationId xmlns:p14="http://schemas.microsoft.com/office/powerpoint/2010/main" val="2512041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CCB95-A6CB-FD48-8AB3-AD7FE5ECA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if the task is more subjective?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B414E-7734-3044-9740-74B2C2211C5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58838" y="1159611"/>
            <a:ext cx="10258928" cy="5497222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Consider an agents that does something like having a conversation or writing a poem.</a:t>
            </a:r>
          </a:p>
          <a:p>
            <a:r>
              <a:rPr lang="en-GB" dirty="0"/>
              <a:t>How can we evaluate something </a:t>
            </a:r>
            <a:r>
              <a:rPr lang="en-GB" i="1" dirty="0"/>
              <a:t>subjective</a:t>
            </a:r>
            <a:r>
              <a:rPr lang="en-GB" dirty="0"/>
              <a:t> like this?</a:t>
            </a:r>
          </a:p>
          <a:p>
            <a:r>
              <a:rPr lang="en-GB" dirty="0"/>
              <a:t>Various approaches use user feedback from a number of people to map out that subjectivity</a:t>
            </a:r>
          </a:p>
          <a:p>
            <a:pPr lvl="1"/>
            <a:r>
              <a:rPr lang="en-GB" dirty="0"/>
              <a:t>You might want to do this for your coursework, but clearly given time constraints you won’t have time to do a large-scale participant study</a:t>
            </a:r>
          </a:p>
          <a:p>
            <a:r>
              <a:rPr lang="en-GB" dirty="0"/>
              <a:t>This could be asking people to rate the quality of the outputs/interactions</a:t>
            </a:r>
          </a:p>
          <a:p>
            <a:pPr lvl="1"/>
            <a:r>
              <a:rPr lang="en-GB" dirty="0"/>
              <a:t>perhaps on a number of dimensions: enjoyability, writing quality, emotional engagement, novelty</a:t>
            </a:r>
          </a:p>
          <a:p>
            <a:r>
              <a:rPr lang="en-GB" dirty="0"/>
              <a:t>…and/or, you could ask people to describe the outputs/interactions in words and then do a (lightweight) “thematic analysis” where you pull out common themes.</a:t>
            </a:r>
          </a:p>
          <a:p>
            <a:r>
              <a:rPr lang="en-GB" dirty="0"/>
              <a:t>Alternatively, </a:t>
            </a:r>
            <a:r>
              <a:rPr lang="en-GB" i="1" dirty="0"/>
              <a:t>Turing test</a:t>
            </a:r>
            <a:r>
              <a:rPr lang="en-GB" dirty="0"/>
              <a:t> type evaluations:</a:t>
            </a:r>
          </a:p>
          <a:p>
            <a:pPr lvl="1"/>
            <a:r>
              <a:rPr lang="en-GB" dirty="0"/>
              <a:t>that is, contrasting the computer on the task with humans doing the task</a:t>
            </a:r>
          </a:p>
        </p:txBody>
      </p:sp>
    </p:spTree>
    <p:extLst>
      <p:ext uri="{BB962C8B-B14F-4D97-AF65-F5344CB8AC3E}">
        <p14:creationId xmlns:p14="http://schemas.microsoft.com/office/powerpoint/2010/main" val="2557108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2041D-C3A4-C946-B7C2-6E13E8321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Evaluating </a:t>
            </a:r>
            <a:r>
              <a:rPr lang="en-GB" i="1" dirty="0"/>
              <a:t>Creative</a:t>
            </a:r>
            <a:r>
              <a:rPr lang="en-GB" dirty="0"/>
              <a:t> Intelligence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768BD-5DEB-7249-AF71-0030F16AA4A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58838" y="1159610"/>
            <a:ext cx="10642600" cy="5279289"/>
          </a:xfrm>
        </p:spPr>
        <p:txBody>
          <a:bodyPr>
            <a:normAutofit lnSpcReduction="10000"/>
          </a:bodyPr>
          <a:lstStyle/>
          <a:p>
            <a:r>
              <a:rPr lang="en-GB" dirty="0"/>
              <a:t>What dimensions are there to this kind of </a:t>
            </a:r>
            <a:r>
              <a:rPr lang="en-GB" i="1" dirty="0"/>
              <a:t>creative</a:t>
            </a:r>
            <a:r>
              <a:rPr lang="en-GB" dirty="0"/>
              <a:t> intelligence?</a:t>
            </a:r>
          </a:p>
          <a:p>
            <a:r>
              <a:rPr lang="en-GB" dirty="0"/>
              <a:t>Clearly there is an aspect of </a:t>
            </a:r>
            <a:r>
              <a:rPr lang="en-GB" i="1" dirty="0"/>
              <a:t>novelty</a:t>
            </a:r>
            <a:endParaRPr lang="en-GB" dirty="0"/>
          </a:p>
          <a:p>
            <a:pPr lvl="1"/>
            <a:r>
              <a:rPr lang="en-GB" dirty="0"/>
              <a:t>implicit in “creative intelligence” is the idea of “something new”</a:t>
            </a:r>
          </a:p>
          <a:p>
            <a:r>
              <a:rPr lang="en-GB" dirty="0"/>
              <a:t>…but this isn’t everything. (Meaningless) novelty is easy.</a:t>
            </a:r>
          </a:p>
          <a:p>
            <a:r>
              <a:rPr lang="en-GB" dirty="0"/>
              <a:t>So, we might also want to evaluate the </a:t>
            </a:r>
            <a:r>
              <a:rPr lang="en-GB" i="1" dirty="0"/>
              <a:t>value</a:t>
            </a:r>
            <a:r>
              <a:rPr lang="en-GB" dirty="0"/>
              <a:t> aka </a:t>
            </a:r>
            <a:r>
              <a:rPr lang="en-GB" i="1" dirty="0"/>
              <a:t>quality</a:t>
            </a:r>
            <a:r>
              <a:rPr lang="en-GB" dirty="0"/>
              <a:t> of the outputs</a:t>
            </a:r>
          </a:p>
          <a:p>
            <a:pPr lvl="1"/>
            <a:r>
              <a:rPr lang="en-GB" dirty="0"/>
              <a:t>…is this a </a:t>
            </a:r>
            <a:r>
              <a:rPr lang="en-GB" i="1" dirty="0"/>
              <a:t>good</a:t>
            </a:r>
            <a:r>
              <a:rPr lang="en-GB" dirty="0"/>
              <a:t> example of that kind of creative intelligence</a:t>
            </a:r>
          </a:p>
          <a:p>
            <a:r>
              <a:rPr lang="en-GB" dirty="0"/>
              <a:t>...and perhaps also:</a:t>
            </a:r>
          </a:p>
          <a:p>
            <a:pPr lvl="1"/>
            <a:r>
              <a:rPr lang="en-GB" i="1" dirty="0"/>
              <a:t>skill—</a:t>
            </a:r>
            <a:r>
              <a:rPr lang="en-GB" dirty="0"/>
              <a:t>is the system demonstrate a mastery in its area</a:t>
            </a:r>
          </a:p>
          <a:p>
            <a:pPr lvl="1"/>
            <a:r>
              <a:rPr lang="en-GB" i="1" dirty="0"/>
              <a:t>imagination—</a:t>
            </a:r>
            <a:r>
              <a:rPr lang="en-GB" dirty="0"/>
              <a:t>is the system extending beyond existing examples</a:t>
            </a:r>
          </a:p>
          <a:p>
            <a:pPr lvl="1"/>
            <a:r>
              <a:rPr lang="en-GB" i="1" dirty="0"/>
              <a:t>appreciation—</a:t>
            </a:r>
            <a:r>
              <a:rPr lang="en-GB" dirty="0"/>
              <a:t>does the system seem to understand what is it doing</a:t>
            </a:r>
          </a:p>
          <a:p>
            <a:pPr lvl="1"/>
            <a:r>
              <a:rPr lang="en-GB" i="1" dirty="0"/>
              <a:t>independence—</a:t>
            </a:r>
            <a:r>
              <a:rPr lang="en-GB" dirty="0"/>
              <a:t>are the ideas that it generates different to its inputs, does it “add value”</a:t>
            </a:r>
            <a:endParaRPr lang="en-GB" i="1" dirty="0"/>
          </a:p>
          <a:p>
            <a:pPr lvl="1"/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D03854-98E9-0F4E-8193-681DCEF026AF}"/>
              </a:ext>
            </a:extLst>
          </p:cNvPr>
          <p:cNvSpPr txBox="1"/>
          <p:nvPr/>
        </p:nvSpPr>
        <p:spPr>
          <a:xfrm>
            <a:off x="9163621" y="6543572"/>
            <a:ext cx="302679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8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http://</a:t>
            </a:r>
            <a:r>
              <a:rPr lang="en-GB" sz="800" dirty="0" err="1">
                <a:solidFill>
                  <a:schemeClr val="bg1">
                    <a:lumMod val="85000"/>
                  </a:schemeClr>
                </a:solidFill>
                <a:latin typeface="+mj-lt"/>
              </a:rPr>
              <a:t>www.thepaintingfool.com</a:t>
            </a:r>
            <a:r>
              <a:rPr lang="en-GB" sz="8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/papers/colton_aaai08symp.pdf</a:t>
            </a:r>
          </a:p>
        </p:txBody>
      </p:sp>
    </p:spTree>
    <p:extLst>
      <p:ext uri="{BB962C8B-B14F-4D97-AF65-F5344CB8AC3E}">
        <p14:creationId xmlns:p14="http://schemas.microsoft.com/office/powerpoint/2010/main" val="3800924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31A1E-BC27-3444-80CB-4DC680850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Exemplars for AGI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23EF2-0CAA-2B4D-A0A4-34B93291E9A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dirty="0"/>
              <a:t>Over the years, people have suggested that such-and-such might be an exemplar for intelligence, in the sense that “if a computer can do…then it must surely be generally intelligent”</a:t>
            </a:r>
          </a:p>
          <a:p>
            <a:pPr lvl="1"/>
            <a:r>
              <a:rPr lang="en-GB" dirty="0"/>
              <a:t>or, more softly, “…artificial general intelligence must surely be around the corner”</a:t>
            </a:r>
          </a:p>
          <a:p>
            <a:r>
              <a:rPr lang="en-GB" dirty="0"/>
              <a:t>These have typically turned out to be nonsense</a:t>
            </a:r>
          </a:p>
          <a:p>
            <a:pPr lvl="1"/>
            <a:r>
              <a:rPr lang="en-GB" dirty="0"/>
              <a:t>people have moved on—“if computers can do it…well, then, it clearly isn’t </a:t>
            </a:r>
            <a:r>
              <a:rPr lang="en-GB" i="1" dirty="0"/>
              <a:t>that</a:t>
            </a:r>
            <a:r>
              <a:rPr lang="en-GB" dirty="0"/>
              <a:t> intelligent, innit”</a:t>
            </a:r>
          </a:p>
          <a:p>
            <a:r>
              <a:rPr lang="en-GB" dirty="0"/>
              <a:t>Let’s consider three examples…then we will break into groups to discuss this.</a:t>
            </a:r>
          </a:p>
        </p:txBody>
      </p:sp>
    </p:spTree>
    <p:extLst>
      <p:ext uri="{BB962C8B-B14F-4D97-AF65-F5344CB8AC3E}">
        <p14:creationId xmlns:p14="http://schemas.microsoft.com/office/powerpoint/2010/main" val="1546492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8D3E2-F0FA-DE44-9407-52B03AF88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8E656-0F6D-B54D-8B67-2304DBEC5BD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58838" y="1159611"/>
            <a:ext cx="6205639" cy="4772838"/>
          </a:xfrm>
        </p:spPr>
        <p:txBody>
          <a:bodyPr/>
          <a:lstStyle/>
          <a:p>
            <a:r>
              <a:rPr lang="en-GB" dirty="0"/>
              <a:t>“if a computer can play </a:t>
            </a:r>
            <a:r>
              <a:rPr lang="en-GB" i="1" dirty="0"/>
              <a:t>chess</a:t>
            </a:r>
            <a:r>
              <a:rPr lang="en-GB" dirty="0"/>
              <a:t> well, then surely we must regard it as intelligent, because </a:t>
            </a:r>
            <a:r>
              <a:rPr lang="en-GB" i="1" dirty="0"/>
              <a:t>chess</a:t>
            </a:r>
            <a:r>
              <a:rPr lang="en-GB" dirty="0"/>
              <a:t> is something that requires lots of intelligence and study to do well”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8EDEF3-CD11-654B-9843-4B0A1D1585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0117" y="1159611"/>
            <a:ext cx="4572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574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8D3E2-F0FA-DE44-9407-52B03AF88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Football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8E656-0F6D-B54D-8B67-2304DBEC5BD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58838" y="1159611"/>
            <a:ext cx="6205639" cy="4772838"/>
          </a:xfrm>
        </p:spPr>
        <p:txBody>
          <a:bodyPr/>
          <a:lstStyle/>
          <a:p>
            <a:r>
              <a:rPr lang="en-GB" dirty="0"/>
              <a:t>“chess is easy; but, if a computer can play </a:t>
            </a:r>
            <a:r>
              <a:rPr lang="en-GB" i="1" dirty="0"/>
              <a:t>football</a:t>
            </a:r>
            <a:r>
              <a:rPr lang="en-GB" dirty="0"/>
              <a:t> well, then surely we must regard it as intelligent, because </a:t>
            </a:r>
            <a:r>
              <a:rPr lang="en-GB" i="1" dirty="0"/>
              <a:t>football</a:t>
            </a:r>
            <a:r>
              <a:rPr lang="en-GB" dirty="0"/>
              <a:t> is something that requires lots of practice and skill development to do well, and it has to deal with so many more real-world difficulties than chess”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D736F9-6A8E-0E4A-B2B6-CA77D73E7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0117" y="1159611"/>
            <a:ext cx="3411909" cy="5133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572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8D3E2-F0FA-DE44-9407-52B03AF88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Conversation (the Turing test etc.)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8E656-0F6D-B54D-8B67-2304DBEC5BD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58838" y="1159611"/>
            <a:ext cx="6205639" cy="4772838"/>
          </a:xfrm>
        </p:spPr>
        <p:txBody>
          <a:bodyPr/>
          <a:lstStyle/>
          <a:p>
            <a:r>
              <a:rPr lang="en-GB" dirty="0"/>
              <a:t>“all these sports and games are very well, but if a computer can have a convincing </a:t>
            </a:r>
            <a:r>
              <a:rPr lang="en-GB" i="1" dirty="0"/>
              <a:t>conversation</a:t>
            </a:r>
            <a:r>
              <a:rPr lang="en-GB" dirty="0"/>
              <a:t> then surely it must be intelligent”</a:t>
            </a:r>
          </a:p>
          <a:p>
            <a:r>
              <a:rPr lang="en-GB" dirty="0"/>
              <a:t>(echoes of the original Turing test–i.e. can a computer, communicating by text only, over five minutes, have a sufficiently convincing wide-ranging conversation so that it is indistinguishable from a conversation with a person)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7465CAF-BC31-AF44-AA2A-4176D83E4D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0117" y="1159611"/>
            <a:ext cx="5007841" cy="4957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344186-2A41-D74A-B677-DF7214E358AA}"/>
              </a:ext>
            </a:extLst>
          </p:cNvPr>
          <p:cNvSpPr txBox="1"/>
          <p:nvPr/>
        </p:nvSpPr>
        <p:spPr>
          <a:xfrm>
            <a:off x="8020681" y="6651294"/>
            <a:ext cx="416973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800" dirty="0">
                <a:solidFill>
                  <a:schemeClr val="bg1">
                    <a:lumMod val="85000"/>
                  </a:schemeClr>
                </a:solidFill>
              </a:rPr>
              <a:t> Ann </a:t>
            </a:r>
            <a:r>
              <a:rPr lang="en-GB" sz="800" dirty="0" err="1">
                <a:solidFill>
                  <a:schemeClr val="bg1">
                    <a:lumMod val="85000"/>
                  </a:schemeClr>
                </a:solidFill>
              </a:rPr>
              <a:t>Witbrock</a:t>
            </a:r>
            <a:r>
              <a:rPr lang="en-GB" sz="800" dirty="0">
                <a:solidFill>
                  <a:schemeClr val="bg1">
                    <a:lumMod val="85000"/>
                  </a:schemeClr>
                </a:solidFill>
              </a:rPr>
              <a:t>; from Copeland, B.J., </a:t>
            </a:r>
            <a:r>
              <a:rPr lang="en-GB" sz="800" i="1" dirty="0">
                <a:solidFill>
                  <a:schemeClr val="bg1">
                    <a:lumMod val="85000"/>
                  </a:schemeClr>
                </a:solidFill>
              </a:rPr>
              <a:t>Artificial Intelligence</a:t>
            </a:r>
            <a:r>
              <a:rPr lang="en-GB" sz="800" dirty="0">
                <a:solidFill>
                  <a:schemeClr val="bg1">
                    <a:lumMod val="85000"/>
                  </a:schemeClr>
                </a:solidFill>
              </a:rPr>
              <a:t> Blackwell Publishers, Oxford, 1993.)</a:t>
            </a:r>
            <a:endParaRPr lang="en-GB" sz="800" dirty="0">
              <a:solidFill>
                <a:schemeClr val="bg1">
                  <a:lumMod val="8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19231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A0515-6E28-384C-88D8-A86F11279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AE3F9-6893-FD40-8DA7-06C054E8DCC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58838" y="1159611"/>
            <a:ext cx="10258928" cy="5498364"/>
          </a:xfrm>
        </p:spPr>
        <p:txBody>
          <a:bodyPr/>
          <a:lstStyle/>
          <a:p>
            <a:r>
              <a:rPr lang="en-GB" dirty="0"/>
              <a:t>Three exemplars:</a:t>
            </a:r>
          </a:p>
          <a:p>
            <a:pPr lvl="1"/>
            <a:r>
              <a:rPr lang="en-GB" dirty="0"/>
              <a:t>“if a computer can play </a:t>
            </a:r>
            <a:r>
              <a:rPr lang="en-GB" i="1" dirty="0"/>
              <a:t>chess</a:t>
            </a:r>
            <a:r>
              <a:rPr lang="en-GB" dirty="0"/>
              <a:t> well, then surely we must regard it as intelligent, because </a:t>
            </a:r>
            <a:r>
              <a:rPr lang="en-GB" i="1" dirty="0"/>
              <a:t>chess</a:t>
            </a:r>
            <a:r>
              <a:rPr lang="en-GB" dirty="0"/>
              <a:t> is something that requires lots of intelligence and study to do well”</a:t>
            </a:r>
          </a:p>
          <a:p>
            <a:pPr lvl="1"/>
            <a:r>
              <a:rPr lang="en-GB" dirty="0"/>
              <a:t>“chess is easy; but, if a computer can play </a:t>
            </a:r>
            <a:r>
              <a:rPr lang="en-GB" i="1" dirty="0"/>
              <a:t>football</a:t>
            </a:r>
            <a:r>
              <a:rPr lang="en-GB" dirty="0"/>
              <a:t> well, then surely we must regard it as intelligent, because </a:t>
            </a:r>
            <a:r>
              <a:rPr lang="en-GB" i="1" dirty="0"/>
              <a:t>football</a:t>
            </a:r>
            <a:r>
              <a:rPr lang="en-GB" dirty="0"/>
              <a:t> is something that requires lots of practice and skill development to do well, and it has to deal with so many more real-world difficulties than chess”</a:t>
            </a:r>
          </a:p>
          <a:p>
            <a:pPr lvl="1"/>
            <a:r>
              <a:rPr lang="en-GB" dirty="0"/>
              <a:t>“all these sports and games are very well, but if a computer can have a convincing </a:t>
            </a:r>
            <a:r>
              <a:rPr lang="en-GB" i="1" dirty="0"/>
              <a:t>conversation</a:t>
            </a:r>
            <a:r>
              <a:rPr lang="en-GB" dirty="0"/>
              <a:t> then surely it must be intelligent”</a:t>
            </a:r>
          </a:p>
          <a:p>
            <a:r>
              <a:rPr lang="en-GB" dirty="0"/>
              <a:t>Are any of these arguments convincing? What aspects of general intelligence do they demonstrate? What ways are these tasks limited in a way that means that they are not demonstrations of general intelligence?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8528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A3C76-0149-7649-8BBD-2E6B27DCC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6F3EE-0712-434B-868C-410ACF05DDF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dirty="0"/>
              <a:t>Artificial general intelligence</a:t>
            </a:r>
          </a:p>
          <a:p>
            <a:r>
              <a:rPr lang="en-GB" dirty="0"/>
              <a:t>Evaluating intelligence:</a:t>
            </a:r>
          </a:p>
          <a:p>
            <a:pPr lvl="1"/>
            <a:r>
              <a:rPr lang="en-GB" dirty="0"/>
              <a:t>for objectively defined measures</a:t>
            </a:r>
          </a:p>
          <a:p>
            <a:pPr lvl="1"/>
            <a:r>
              <a:rPr lang="en-GB" dirty="0"/>
              <a:t>for subjective and creative topics</a:t>
            </a:r>
          </a:p>
          <a:p>
            <a:r>
              <a:rPr lang="en-GB" dirty="0"/>
              <a:t>Exemplars </a:t>
            </a:r>
            <a:r>
              <a:rPr lang="en-GB"/>
              <a:t>for intelligence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4424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Notts">
      <a:dk1>
        <a:sysClr val="windowText" lastClr="000000"/>
      </a:dk1>
      <a:lt1>
        <a:sysClr val="window" lastClr="FFFFFF"/>
      </a:lt1>
      <a:dk2>
        <a:srgbClr val="007DA8"/>
      </a:dk2>
      <a:lt2>
        <a:srgbClr val="009BBD"/>
      </a:lt2>
      <a:accent1>
        <a:srgbClr val="005697"/>
      </a:accent1>
      <a:accent2>
        <a:srgbClr val="1B2A6B"/>
      </a:accent2>
      <a:accent3>
        <a:srgbClr val="191A4F"/>
      </a:accent3>
      <a:accent4>
        <a:srgbClr val="B32C76"/>
      </a:accent4>
      <a:accent5>
        <a:srgbClr val="D27826"/>
      </a:accent5>
      <a:accent6>
        <a:srgbClr val="38A159"/>
      </a:accent6>
      <a:hlink>
        <a:srgbClr val="0563C1"/>
      </a:hlink>
      <a:folHlink>
        <a:srgbClr val="954F72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70000">
              <a:srgbClr val="00487E">
                <a:lumMod val="85000"/>
                <a:lumOff val="15000"/>
              </a:srgbClr>
            </a:gs>
            <a:gs pos="17000">
              <a:schemeClr val="accent1"/>
            </a:gs>
            <a:gs pos="100000">
              <a:schemeClr val="accent1">
                <a:lumMod val="75000"/>
              </a:schemeClr>
            </a:gs>
          </a:gsLst>
          <a:lin ang="0" scaled="1"/>
          <a:tileRect/>
        </a:gradFill>
        <a:ln>
          <a:noFill/>
        </a:ln>
      </a:spPr>
      <a:bodyPr rtlCol="0" anchor="ctr"/>
      <a:lstStyle>
        <a:defPPr algn="ctr">
          <a:defRPr sz="2400" b="1" dirty="0"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2400" dirty="0" err="1" smtClean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A3D2834E-CE8D-084F-AB9E-7479A63A9E3F}" vid="{F55BD544-069E-7D46-8448-AE90783330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3974</TotalTime>
  <Words>1351</Words>
  <Application>Microsoft Macintosh PowerPoint</Application>
  <PresentationFormat>Widescreen</PresentationFormat>
  <Paragraphs>88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Century Schoolbook</vt:lpstr>
      <vt:lpstr>Times New Roman</vt:lpstr>
      <vt:lpstr>Office Theme</vt:lpstr>
      <vt:lpstr>Designing Intelligent Agents: Evaluating Intelligence</vt:lpstr>
      <vt:lpstr>Artificial (General) Intelligence</vt:lpstr>
      <vt:lpstr>Evaluating Intelligence</vt:lpstr>
      <vt:lpstr>Evaluating Intelligence</vt:lpstr>
      <vt:lpstr>Evaluating Task Performance (Objective Measures)</vt:lpstr>
      <vt:lpstr>What if the task is more subjective? </vt:lpstr>
      <vt:lpstr>Evaluating Creative Intelligence</vt:lpstr>
      <vt:lpstr>Exemplars for AGI</vt:lpstr>
      <vt:lpstr>Chess</vt:lpstr>
      <vt:lpstr>Football</vt:lpstr>
      <vt:lpstr>Conversation (the Turing test etc.)</vt:lpstr>
      <vt:lpstr>Task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 Title Slide</dc:title>
  <dc:creator>Colin Johnson</dc:creator>
  <cp:lastModifiedBy>Colin Johnson (staff)</cp:lastModifiedBy>
  <cp:revision>153</cp:revision>
  <dcterms:created xsi:type="dcterms:W3CDTF">2020-09-20T18:59:32Z</dcterms:created>
  <dcterms:modified xsi:type="dcterms:W3CDTF">2026-04-30T08:37:11Z</dcterms:modified>
</cp:coreProperties>
</file>